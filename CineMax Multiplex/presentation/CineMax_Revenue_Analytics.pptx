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59A33A"/>
              </a:solidFill>
              <a:ln w="25400" cap="flat">
                <a:solidFill>
                  <a:srgbClr val="2B2E30"/>
                </a:solidFill>
                <a:prstDash val="solid"/>
                <a:round/>
              </a:ln>
              <a:effectLst/>
            </c:spPr>
          </c:dPt>
          <c:dPt>
            <c:idx val="1"/>
            <c:bubble3D val="0"/>
            <c:spPr>
              <a:solidFill>
                <a:srgbClr val="6E7173"/>
              </a:solidFill>
              <a:ln w="25400" cap="flat">
                <a:solidFill>
                  <a:srgbClr val="2B2E30"/>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Ticket 74%</c:v>
                </c:pt>
                <c:pt idx="1">
                  <c:v>Food 26%</c:v>
                </c:pt>
              </c:strCache>
            </c:strRef>
          </c:cat>
          <c:val>
            <c:numRef>
              <c:f>Sheet1!$B$2:$B$3</c:f>
              <c:numCache>
                <c:ptCount val="2"/>
                <c:pt idx="0">
                  <c:v>74</c:v>
                </c:pt>
                <c:pt idx="1">
                  <c:v>26</c:v>
                </c:pt>
              </c:numCache>
            </c:numRef>
          </c:val>
        </c:ser>
        <c:firstSliceAng val="0"/>
        <c:holeSize val="60"/>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your time. I'm Malathi, and today I'll walk you through our new Power BI dashboard for CineMax Multiplex — built to give us one clear, centralized view of revenue and operations across all our theatres in Tamil Nadu. In the next five minutes, I'll cover the business problem we're solving, what the dashboard shows, the key insights, and what we recommend doing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CineMax isn't a single cinema — we run multiple theatres across Tamil Nadu, from Chennai to Trichy to Salem. That scale is great for business, but it makes it hard to keep track of everything. Management needs one centralized place to see revenue, occupancy, how movies are performing, food and beverage sales, promotions, and how each theatre stacks up — instead of chasing separate spreadsheets from every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actually going wrong today? There's no single source of truth — reporting is scattered across locations, so tracking revenue in real time is difficult. Theatre performance is inconsistent and hard to compare. We don't have clear visibility into how full our shows really are, we can't easily tell which promotions are working, and a lot of manager time goes into building reports manually instead of acting on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in mind, we set six objectives for this dashboard: monitor total revenue as it comes in, track occupancy at each theatre, understand which movie genres perform best, measure how much food and beverage adds to revenue, compare theatres against each other fairly, and ultimately give leadership one trusted, data-driven foundation for decisions — instead of gut feel.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it — our Revenue Analysis Dashboard in Power BI. At the top, four cards give an instant pulse check: total revenue of 227.88K, gross revenue of 213K, food revenue of 55K, and total tax of 38.34K. Below that, we can see revenue trending month by month, which genres perform best, how ticket and food revenue split, and how every theatre compares on revenue and occupancy. And on the left, filters let anyone slice this by payment mode, date, or promotion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data actually tell us? Total revenue stands at 227.88K, with ticket sales making up about 74% and food around 26% — a healthy secondary income stream. Action movies are our clear box-office winner. Revenue peaks around May to July and again in December, which lines up with holidays and school breaks. We also see some theatres consistently outperforming others, and occupancy levels that vary quite a bit — both signal real opportunities to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these insights, here's what we recommend: put more Action titles in prime slots, run targeted promotions during the slower months, invest marketing where theatres are underperforming, introduce more food combo deals to grow that revenue stream further, adjust showtimes based on when occupancy is highest, and formally study what our best theatres are doing right so we can apply it everywhere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this mean for the business overall? We expect higher revenue, better occupancy across theatres, increased food and beverage sales, a stronger customer experience, faster decision-making at every level, and better operational efficiency across the board. In short — the dashboard doesn't just report the business, it helps us actively improve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 this dashboard turns raw theatre data into insights we can actually act on, helping CineMax make smarter decisions, run a more profitable business, and give our customers a better experience. Thank you for your time — I'd be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3D40"/>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B2E30"/>
          </a:solidFill>
          <a:ln/>
        </p:spPr>
      </p:sp>
      <p:sp>
        <p:nvSpPr>
          <p:cNvPr id="3" name="Shape 1"/>
          <p:cNvSpPr/>
          <p:nvPr/>
        </p:nvSpPr>
        <p:spPr>
          <a:xfrm>
            <a:off x="-1463040" y="4480560"/>
            <a:ext cx="3840480" cy="3840480"/>
          </a:xfrm>
          <a:prstGeom prst="ellipse">
            <a:avLst/>
          </a:prstGeom>
          <a:solidFill>
            <a:srgbClr val="2B2E30"/>
          </a:solidFill>
          <a:ln/>
        </p:spPr>
      </p:sp>
      <p:sp>
        <p:nvSpPr>
          <p:cNvPr id="4" name="Shape 2"/>
          <p:cNvSpPr/>
          <p:nvPr/>
        </p:nvSpPr>
        <p:spPr>
          <a:xfrm>
            <a:off x="5638648" y="1051560"/>
            <a:ext cx="914400" cy="914400"/>
          </a:xfrm>
          <a:prstGeom prst="ellipse">
            <a:avLst/>
          </a:prstGeom>
          <a:solidFill>
            <a:srgbClr val="59A33A"/>
          </a:solidFill>
          <a:ln/>
        </p:spPr>
      </p:sp>
      <p:pic>
        <p:nvPicPr>
          <p:cNvPr id="5" name="Image 0" descr="/home/claude/theatre_deck/assets/icons/film_white.png">    </p:cNvPr>
          <p:cNvPicPr>
            <a:picLocks noChangeAspect="1"/>
          </p:cNvPicPr>
          <p:nvPr/>
        </p:nvPicPr>
        <p:blipFill>
          <a:blip r:embed="rId1"/>
          <a:stretch>
            <a:fillRect/>
          </a:stretch>
        </p:blipFill>
        <p:spPr>
          <a:xfrm>
            <a:off x="5858104" y="1271016"/>
            <a:ext cx="475488" cy="475488"/>
          </a:xfrm>
          <a:prstGeom prst="rect">
            <a:avLst/>
          </a:prstGeom>
        </p:spPr>
      </p:pic>
      <p:sp>
        <p:nvSpPr>
          <p:cNvPr id="6" name="Text 3"/>
          <p:cNvSpPr/>
          <p:nvPr/>
        </p:nvSpPr>
        <p:spPr>
          <a:xfrm>
            <a:off x="0" y="2148840"/>
            <a:ext cx="12191695" cy="365760"/>
          </a:xfrm>
          <a:prstGeom prst="rect">
            <a:avLst/>
          </a:prstGeom>
          <a:noFill/>
          <a:ln/>
        </p:spPr>
        <p:txBody>
          <a:bodyPr wrap="square" rtlCol="0" anchor="ctr"/>
          <a:lstStyle/>
          <a:p>
            <a:pPr algn="ctr" indent="0" marL="0">
              <a:buNone/>
            </a:pPr>
            <a:r>
              <a:rPr lang="en-US" sz="1400" b="1" spc="300" kern="0" dirty="0">
                <a:solidFill>
                  <a:srgbClr val="59A33A"/>
                </a:solidFill>
                <a:latin typeface="Calibri" pitchFamily="34" charset="0"/>
                <a:ea typeface="Calibri" pitchFamily="34" charset="-122"/>
                <a:cs typeface="Calibri" pitchFamily="34" charset="-120"/>
              </a:rPr>
              <a:t>CINEMAX MULTIPLEX PVT. LTD.</a:t>
            </a:r>
            <a:endParaRPr lang="en-US" sz="1400" dirty="0"/>
          </a:p>
        </p:txBody>
      </p:sp>
      <p:sp>
        <p:nvSpPr>
          <p:cNvPr id="7" name="Text 4"/>
          <p:cNvSpPr/>
          <p:nvPr/>
        </p:nvSpPr>
        <p:spPr>
          <a:xfrm>
            <a:off x="914400" y="2606040"/>
            <a:ext cx="10362895" cy="137160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Movie Theatre Revenue &amp; Operations Analytics</a:t>
            </a:r>
            <a:endParaRPr lang="en-US" sz="4000" dirty="0"/>
          </a:p>
        </p:txBody>
      </p:sp>
      <p:sp>
        <p:nvSpPr>
          <p:cNvPr id="8" name="Text 5"/>
          <p:cNvSpPr/>
          <p:nvPr/>
        </p:nvSpPr>
        <p:spPr>
          <a:xfrm>
            <a:off x="914400" y="3977640"/>
            <a:ext cx="10362895" cy="411480"/>
          </a:xfrm>
          <a:prstGeom prst="rect">
            <a:avLst/>
          </a:prstGeom>
          <a:noFill/>
          <a:ln/>
        </p:spPr>
        <p:txBody>
          <a:bodyPr wrap="square" rtlCol="0" anchor="ctr"/>
          <a:lstStyle/>
          <a:p>
            <a:pPr algn="ctr" indent="0" marL="0">
              <a:buNone/>
            </a:pPr>
            <a:r>
              <a:rPr lang="en-US" sz="1600" dirty="0">
                <a:solidFill>
                  <a:srgbClr val="C9CBCA"/>
                </a:solidFill>
                <a:latin typeface="Calibri" pitchFamily="34" charset="0"/>
                <a:ea typeface="Calibri" pitchFamily="34" charset="-122"/>
                <a:cs typeface="Calibri" pitchFamily="34" charset="-120"/>
              </a:rPr>
              <a:t>Power BI Dashboard  |  Executive Stakeholder Briefing</a:t>
            </a:r>
            <a:endParaRPr lang="en-US" sz="1600" dirty="0"/>
          </a:p>
        </p:txBody>
      </p:sp>
      <p:sp>
        <p:nvSpPr>
          <p:cNvPr id="9" name="Shape 6"/>
          <p:cNvSpPr/>
          <p:nvPr/>
        </p:nvSpPr>
        <p:spPr>
          <a:xfrm>
            <a:off x="5272888" y="4892040"/>
            <a:ext cx="1645920" cy="0"/>
          </a:xfrm>
          <a:prstGeom prst="line">
            <a:avLst/>
          </a:prstGeom>
          <a:noFill/>
          <a:ln w="25400">
            <a:solidFill>
              <a:srgbClr val="59A33A"/>
            </a:solidFill>
            <a:prstDash val="solid"/>
          </a:ln>
        </p:spPr>
      </p:sp>
      <p:sp>
        <p:nvSpPr>
          <p:cNvPr id="10" name="Text 7"/>
          <p:cNvSpPr/>
          <p:nvPr/>
        </p:nvSpPr>
        <p:spPr>
          <a:xfrm>
            <a:off x="914400" y="5074920"/>
            <a:ext cx="10362895"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Presented by: Malathi R</a:t>
            </a:r>
            <a:endParaRPr lang="en-US" sz="1500" dirty="0"/>
          </a:p>
        </p:txBody>
      </p:sp>
      <p:sp>
        <p:nvSpPr>
          <p:cNvPr id="11" name="Text 8"/>
          <p:cNvSpPr/>
          <p:nvPr/>
        </p:nvSpPr>
        <p:spPr>
          <a:xfrm>
            <a:off x="914400" y="5440680"/>
            <a:ext cx="10362895" cy="320040"/>
          </a:xfrm>
          <a:prstGeom prst="rect">
            <a:avLst/>
          </a:prstGeom>
          <a:noFill/>
          <a:ln/>
        </p:spPr>
        <p:txBody>
          <a:bodyPr wrap="square" rtlCol="0" anchor="ctr"/>
          <a:lstStyle/>
          <a:p>
            <a:pPr algn="ctr" indent="0" marL="0">
              <a:buNone/>
            </a:pPr>
            <a:r>
              <a:rPr lang="en-US" sz="1100" dirty="0">
                <a:solidFill>
                  <a:srgbClr val="C9CBCA"/>
                </a:solidFill>
                <a:latin typeface="Calibri" pitchFamily="34" charset="0"/>
                <a:ea typeface="Calibri" pitchFamily="34" charset="-122"/>
                <a:cs typeface="Calibri" pitchFamily="34" charset="-120"/>
              </a:rPr>
              <a:t>Regional Operations Director &amp; Business Stakeholders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4"/>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59A33A"/>
                </a:solidFill>
                <a:latin typeface="Calibri" pitchFamily="34" charset="0"/>
                <a:ea typeface="Calibri" pitchFamily="34" charset="-122"/>
                <a:cs typeface="Calibri" pitchFamily="34" charset="-120"/>
              </a:rPr>
              <a:t>BUSINESS CONTEXT</a:t>
            </a:r>
            <a:endParaRPr lang="en-US" sz="1200" dirty="0"/>
          </a:p>
        </p:txBody>
      </p:sp>
      <p:sp>
        <p:nvSpPr>
          <p:cNvPr id="3" name="Text 1"/>
          <p:cNvSpPr/>
          <p:nvPr/>
        </p:nvSpPr>
        <p:spPr>
          <a:xfrm>
            <a:off x="548640" y="658368"/>
            <a:ext cx="10607040" cy="658368"/>
          </a:xfrm>
          <a:prstGeom prst="rect">
            <a:avLst/>
          </a:prstGeom>
          <a:noFill/>
          <a:ln/>
        </p:spPr>
        <p:txBody>
          <a:bodyPr wrap="square" rtlCol="0" anchor="ctr"/>
          <a:lstStyle/>
          <a:p>
            <a:pPr indent="0" marL="0">
              <a:buNone/>
            </a:pPr>
            <a:r>
              <a:rPr lang="en-US" sz="3000" b="1" dirty="0">
                <a:solidFill>
                  <a:srgbClr val="2B2B2B"/>
                </a:solidFill>
                <a:latin typeface="Cambria" pitchFamily="34" charset="0"/>
                <a:ea typeface="Cambria" pitchFamily="34" charset="-122"/>
                <a:cs typeface="Cambria" pitchFamily="34" charset="-120"/>
              </a:rPr>
              <a:t>Business Background</a:t>
            </a:r>
            <a:endParaRPr lang="en-US" sz="3000" dirty="0"/>
          </a:p>
        </p:txBody>
      </p:sp>
      <p:sp>
        <p:nvSpPr>
          <p:cNvPr id="4" name="Text 2"/>
          <p:cNvSpPr/>
          <p:nvPr/>
        </p:nvSpPr>
        <p:spPr>
          <a:xfrm>
            <a:off x="548640" y="1600200"/>
            <a:ext cx="6035040" cy="914400"/>
          </a:xfrm>
          <a:prstGeom prst="rect">
            <a:avLst/>
          </a:prstGeom>
          <a:noFill/>
          <a:ln/>
        </p:spPr>
        <p:txBody>
          <a:bodyPr wrap="square" rtlCol="0" anchor="ctr"/>
          <a:lstStyle/>
          <a:p>
            <a:pPr indent="0" marL="0">
              <a:lnSpc>
                <a:spcPct val="120000"/>
              </a:lnSpc>
              <a:buNone/>
            </a:pPr>
            <a:r>
              <a:rPr lang="en-US" sz="1500" dirty="0">
                <a:solidFill>
                  <a:srgbClr val="2B2B2B"/>
                </a:solidFill>
                <a:latin typeface="Calibri" pitchFamily="34" charset="0"/>
                <a:ea typeface="Calibri" pitchFamily="34" charset="-122"/>
                <a:cs typeface="Calibri" pitchFamily="34" charset="-120"/>
              </a:rPr>
              <a:t>CineMax Multiplex operates multiple theatres across Tamil Nadu, running hundreds of shows every week across genres, cities, and price points.</a:t>
            </a:r>
            <a:endParaRPr lang="en-US" sz="1500" dirty="0"/>
          </a:p>
        </p:txBody>
      </p:sp>
      <p:sp>
        <p:nvSpPr>
          <p:cNvPr id="5" name="Text 3"/>
          <p:cNvSpPr/>
          <p:nvPr/>
        </p:nvSpPr>
        <p:spPr>
          <a:xfrm>
            <a:off x="548640" y="2514600"/>
            <a:ext cx="6035040" cy="1005840"/>
          </a:xfrm>
          <a:prstGeom prst="rect">
            <a:avLst/>
          </a:prstGeom>
          <a:noFill/>
          <a:ln/>
        </p:spPr>
        <p:txBody>
          <a:bodyPr wrap="square" rtlCol="0" anchor="ctr"/>
          <a:lstStyle/>
          <a:p>
            <a:pPr indent="0" marL="0">
              <a:lnSpc>
                <a:spcPct val="125000"/>
              </a:lnSpc>
              <a:buNone/>
            </a:pPr>
            <a:r>
              <a:rPr lang="en-US" sz="1300" dirty="0">
                <a:solidFill>
                  <a:srgbClr val="7A7D7F"/>
                </a:solidFill>
                <a:latin typeface="Calibri" pitchFamily="34" charset="0"/>
                <a:ea typeface="Calibri" pitchFamily="34" charset="-122"/>
                <a:cs typeface="Calibri" pitchFamily="34" charset="-120"/>
              </a:rPr>
              <a:t>As the chain has grown, management needs a single, centralized dashboard to monitor performance and make faster, better-informed decisions — instead of piecing together separate reports from every location.</a:t>
            </a:r>
            <a:endParaRPr lang="en-US" sz="1300" dirty="0"/>
          </a:p>
        </p:txBody>
      </p:sp>
      <p:sp>
        <p:nvSpPr>
          <p:cNvPr id="6" name="Text 4"/>
          <p:cNvSpPr/>
          <p:nvPr/>
        </p:nvSpPr>
        <p:spPr>
          <a:xfrm>
            <a:off x="548640" y="3657600"/>
            <a:ext cx="6035040" cy="274320"/>
          </a:xfrm>
          <a:prstGeom prst="rect">
            <a:avLst/>
          </a:prstGeom>
          <a:noFill/>
          <a:ln/>
        </p:spPr>
        <p:txBody>
          <a:bodyPr wrap="square" rtlCol="0" anchor="ctr"/>
          <a:lstStyle/>
          <a:p>
            <a:pPr indent="0" marL="0">
              <a:buNone/>
            </a:pPr>
            <a:r>
              <a:rPr lang="en-US" sz="1100" b="1" spc="100" kern="0" dirty="0">
                <a:solidFill>
                  <a:srgbClr val="3D7A26"/>
                </a:solidFill>
                <a:latin typeface="Calibri" pitchFamily="34" charset="0"/>
                <a:ea typeface="Calibri" pitchFamily="34" charset="-122"/>
                <a:cs typeface="Calibri" pitchFamily="34" charset="-120"/>
              </a:rPr>
              <a:t>WHAT MANAGEMENT NEEDS TO SEE, IN ONE PLACE</a:t>
            </a:r>
            <a:endParaRPr lang="en-US" sz="1100" dirty="0"/>
          </a:p>
        </p:txBody>
      </p:sp>
      <p:sp>
        <p:nvSpPr>
          <p:cNvPr id="7" name="Shape 5"/>
          <p:cNvSpPr/>
          <p:nvPr/>
        </p:nvSpPr>
        <p:spPr>
          <a:xfrm>
            <a:off x="548640" y="4069080"/>
            <a:ext cx="457200" cy="457200"/>
          </a:xfrm>
          <a:prstGeom prst="ellipse">
            <a:avLst/>
          </a:prstGeom>
          <a:solidFill>
            <a:srgbClr val="59A33A"/>
          </a:solidFill>
          <a:ln/>
        </p:spPr>
      </p:sp>
      <p:pic>
        <p:nvPicPr>
          <p:cNvPr id="8" name="Image 0" descr="/home/claude/theatre_deck/assets/icons/money_white.png">    </p:cNvPr>
          <p:cNvPicPr>
            <a:picLocks noChangeAspect="1"/>
          </p:cNvPicPr>
          <p:nvPr/>
        </p:nvPicPr>
        <p:blipFill>
          <a:blip r:embed="rId1"/>
          <a:stretch>
            <a:fillRect/>
          </a:stretch>
        </p:blipFill>
        <p:spPr>
          <a:xfrm>
            <a:off x="658368" y="4178808"/>
            <a:ext cx="237744" cy="237744"/>
          </a:xfrm>
          <a:prstGeom prst="rect">
            <a:avLst/>
          </a:prstGeom>
        </p:spPr>
      </p:pic>
      <p:sp>
        <p:nvSpPr>
          <p:cNvPr id="9" name="Text 6"/>
          <p:cNvSpPr/>
          <p:nvPr/>
        </p:nvSpPr>
        <p:spPr>
          <a:xfrm>
            <a:off x="228600" y="4572000"/>
            <a:ext cx="1097280" cy="457200"/>
          </a:xfrm>
          <a:prstGeom prst="rect">
            <a:avLst/>
          </a:prstGeom>
          <a:noFill/>
          <a:ln/>
        </p:spPr>
        <p:txBody>
          <a:bodyPr wrap="square" rtlCol="0" anchor="ctr"/>
          <a:lstStyle/>
          <a:p>
            <a:pPr algn="ctr" indent="0" marL="0">
              <a:buNone/>
            </a:pPr>
            <a:r>
              <a:rPr lang="en-US" sz="1050" b="1" dirty="0">
                <a:solidFill>
                  <a:srgbClr val="2B2B2B"/>
                </a:solidFill>
                <a:latin typeface="Calibri" pitchFamily="34" charset="0"/>
                <a:ea typeface="Calibri" pitchFamily="34" charset="-122"/>
                <a:cs typeface="Calibri" pitchFamily="34" charset="-120"/>
              </a:rPr>
              <a:t>Revenue</a:t>
            </a:r>
            <a:endParaRPr lang="en-US" sz="1050" dirty="0"/>
          </a:p>
        </p:txBody>
      </p:sp>
      <p:sp>
        <p:nvSpPr>
          <p:cNvPr id="10" name="Shape 7"/>
          <p:cNvSpPr/>
          <p:nvPr/>
        </p:nvSpPr>
        <p:spPr>
          <a:xfrm>
            <a:off x="2606040" y="4069080"/>
            <a:ext cx="457200" cy="457200"/>
          </a:xfrm>
          <a:prstGeom prst="ellipse">
            <a:avLst/>
          </a:prstGeom>
          <a:solidFill>
            <a:srgbClr val="59A33A"/>
          </a:solidFill>
          <a:ln/>
        </p:spPr>
      </p:sp>
      <p:pic>
        <p:nvPicPr>
          <p:cNvPr id="11" name="Image 1" descr="/home/claude/theatre_deck/assets/icons/users_white.png">    </p:cNvPr>
          <p:cNvPicPr>
            <a:picLocks noChangeAspect="1"/>
          </p:cNvPicPr>
          <p:nvPr/>
        </p:nvPicPr>
        <p:blipFill>
          <a:blip r:embed="rId2"/>
          <a:stretch>
            <a:fillRect/>
          </a:stretch>
        </p:blipFill>
        <p:spPr>
          <a:xfrm>
            <a:off x="2715768" y="4178808"/>
            <a:ext cx="237744" cy="237744"/>
          </a:xfrm>
          <a:prstGeom prst="rect">
            <a:avLst/>
          </a:prstGeom>
        </p:spPr>
      </p:pic>
      <p:sp>
        <p:nvSpPr>
          <p:cNvPr id="12" name="Text 8"/>
          <p:cNvSpPr/>
          <p:nvPr/>
        </p:nvSpPr>
        <p:spPr>
          <a:xfrm>
            <a:off x="2286000" y="4572000"/>
            <a:ext cx="1097280" cy="457200"/>
          </a:xfrm>
          <a:prstGeom prst="rect">
            <a:avLst/>
          </a:prstGeom>
          <a:noFill/>
          <a:ln/>
        </p:spPr>
        <p:txBody>
          <a:bodyPr wrap="square" rtlCol="0" anchor="ctr"/>
          <a:lstStyle/>
          <a:p>
            <a:pPr algn="ctr" indent="0" marL="0">
              <a:buNone/>
            </a:pPr>
            <a:r>
              <a:rPr lang="en-US" sz="1050" b="1" dirty="0">
                <a:solidFill>
                  <a:srgbClr val="2B2B2B"/>
                </a:solidFill>
                <a:latin typeface="Calibri" pitchFamily="34" charset="0"/>
                <a:ea typeface="Calibri" pitchFamily="34" charset="-122"/>
                <a:cs typeface="Calibri" pitchFamily="34" charset="-120"/>
              </a:rPr>
              <a:t>Occupancy</a:t>
            </a:r>
            <a:endParaRPr lang="en-US" sz="1050" dirty="0"/>
          </a:p>
        </p:txBody>
      </p:sp>
      <p:sp>
        <p:nvSpPr>
          <p:cNvPr id="13" name="Shape 9"/>
          <p:cNvSpPr/>
          <p:nvPr/>
        </p:nvSpPr>
        <p:spPr>
          <a:xfrm>
            <a:off x="4663440" y="4069080"/>
            <a:ext cx="457200" cy="457200"/>
          </a:xfrm>
          <a:prstGeom prst="ellipse">
            <a:avLst/>
          </a:prstGeom>
          <a:solidFill>
            <a:srgbClr val="59A33A"/>
          </a:solidFill>
          <a:ln/>
        </p:spPr>
      </p:sp>
      <p:pic>
        <p:nvPicPr>
          <p:cNvPr id="14" name="Image 2" descr="/home/claude/theatre_deck/assets/icons/film_white.png">    </p:cNvPr>
          <p:cNvPicPr>
            <a:picLocks noChangeAspect="1"/>
          </p:cNvPicPr>
          <p:nvPr/>
        </p:nvPicPr>
        <p:blipFill>
          <a:blip r:embed="rId3"/>
          <a:stretch>
            <a:fillRect/>
          </a:stretch>
        </p:blipFill>
        <p:spPr>
          <a:xfrm>
            <a:off x="4773168" y="4178808"/>
            <a:ext cx="237744" cy="237744"/>
          </a:xfrm>
          <a:prstGeom prst="rect">
            <a:avLst/>
          </a:prstGeom>
        </p:spPr>
      </p:pic>
      <p:sp>
        <p:nvSpPr>
          <p:cNvPr id="15" name="Text 10"/>
          <p:cNvSpPr/>
          <p:nvPr/>
        </p:nvSpPr>
        <p:spPr>
          <a:xfrm>
            <a:off x="4343400" y="4572000"/>
            <a:ext cx="1097280" cy="457200"/>
          </a:xfrm>
          <a:prstGeom prst="rect">
            <a:avLst/>
          </a:prstGeom>
          <a:noFill/>
          <a:ln/>
        </p:spPr>
        <p:txBody>
          <a:bodyPr wrap="square" rtlCol="0" anchor="ctr"/>
          <a:lstStyle/>
          <a:p>
            <a:pPr algn="ctr" indent="0" marL="0">
              <a:buNone/>
            </a:pPr>
            <a:r>
              <a:rPr lang="en-US" sz="1050" b="1" dirty="0">
                <a:solidFill>
                  <a:srgbClr val="2B2B2B"/>
                </a:solidFill>
                <a:latin typeface="Calibri" pitchFamily="34" charset="0"/>
                <a:ea typeface="Calibri" pitchFamily="34" charset="-122"/>
                <a:cs typeface="Calibri" pitchFamily="34" charset="-120"/>
              </a:rPr>
              <a:t>Movie performance</a:t>
            </a:r>
            <a:endParaRPr lang="en-US" sz="1050" dirty="0"/>
          </a:p>
        </p:txBody>
      </p:sp>
      <p:sp>
        <p:nvSpPr>
          <p:cNvPr id="16" name="Shape 11"/>
          <p:cNvSpPr/>
          <p:nvPr/>
        </p:nvSpPr>
        <p:spPr>
          <a:xfrm>
            <a:off x="548640" y="5120640"/>
            <a:ext cx="457200" cy="457200"/>
          </a:xfrm>
          <a:prstGeom prst="ellipse">
            <a:avLst/>
          </a:prstGeom>
          <a:solidFill>
            <a:srgbClr val="59A33A"/>
          </a:solidFill>
          <a:ln/>
        </p:spPr>
      </p:sp>
      <p:pic>
        <p:nvPicPr>
          <p:cNvPr id="17" name="Image 3" descr="/home/claude/theatre_deck/assets/icons/food_white.png">    </p:cNvPr>
          <p:cNvPicPr>
            <a:picLocks noChangeAspect="1"/>
          </p:cNvPicPr>
          <p:nvPr/>
        </p:nvPicPr>
        <p:blipFill>
          <a:blip r:embed="rId4"/>
          <a:stretch>
            <a:fillRect/>
          </a:stretch>
        </p:blipFill>
        <p:spPr>
          <a:xfrm>
            <a:off x="658368" y="5230368"/>
            <a:ext cx="237744" cy="237744"/>
          </a:xfrm>
          <a:prstGeom prst="rect">
            <a:avLst/>
          </a:prstGeom>
        </p:spPr>
      </p:pic>
      <p:sp>
        <p:nvSpPr>
          <p:cNvPr id="18" name="Text 12"/>
          <p:cNvSpPr/>
          <p:nvPr/>
        </p:nvSpPr>
        <p:spPr>
          <a:xfrm>
            <a:off x="228600" y="5623560"/>
            <a:ext cx="1097280" cy="457200"/>
          </a:xfrm>
          <a:prstGeom prst="rect">
            <a:avLst/>
          </a:prstGeom>
          <a:noFill/>
          <a:ln/>
        </p:spPr>
        <p:txBody>
          <a:bodyPr wrap="square" rtlCol="0" anchor="ctr"/>
          <a:lstStyle/>
          <a:p>
            <a:pPr algn="ctr" indent="0" marL="0">
              <a:buNone/>
            </a:pPr>
            <a:r>
              <a:rPr lang="en-US" sz="1050" b="1" dirty="0">
                <a:solidFill>
                  <a:srgbClr val="2B2B2B"/>
                </a:solidFill>
                <a:latin typeface="Calibri" pitchFamily="34" charset="0"/>
                <a:ea typeface="Calibri" pitchFamily="34" charset="-122"/>
                <a:cs typeface="Calibri" pitchFamily="34" charset="-120"/>
              </a:rPr>
              <a:t>Food sales</a:t>
            </a:r>
            <a:endParaRPr lang="en-US" sz="1050" dirty="0"/>
          </a:p>
        </p:txBody>
      </p:sp>
      <p:sp>
        <p:nvSpPr>
          <p:cNvPr id="19" name="Shape 13"/>
          <p:cNvSpPr/>
          <p:nvPr/>
        </p:nvSpPr>
        <p:spPr>
          <a:xfrm>
            <a:off x="2606040" y="5120640"/>
            <a:ext cx="457200" cy="457200"/>
          </a:xfrm>
          <a:prstGeom prst="ellipse">
            <a:avLst/>
          </a:prstGeom>
          <a:solidFill>
            <a:srgbClr val="59A33A"/>
          </a:solidFill>
          <a:ln/>
        </p:spPr>
      </p:sp>
      <p:pic>
        <p:nvPicPr>
          <p:cNvPr id="20" name="Image 4" descr="/home/claude/theatre_deck/assets/icons/tags_white.png">    </p:cNvPr>
          <p:cNvPicPr>
            <a:picLocks noChangeAspect="1"/>
          </p:cNvPicPr>
          <p:nvPr/>
        </p:nvPicPr>
        <p:blipFill>
          <a:blip r:embed="rId5"/>
          <a:stretch>
            <a:fillRect/>
          </a:stretch>
        </p:blipFill>
        <p:spPr>
          <a:xfrm>
            <a:off x="2715768" y="5230368"/>
            <a:ext cx="237744" cy="237744"/>
          </a:xfrm>
          <a:prstGeom prst="rect">
            <a:avLst/>
          </a:prstGeom>
        </p:spPr>
      </p:pic>
      <p:sp>
        <p:nvSpPr>
          <p:cNvPr id="21" name="Text 14"/>
          <p:cNvSpPr/>
          <p:nvPr/>
        </p:nvSpPr>
        <p:spPr>
          <a:xfrm>
            <a:off x="2286000" y="5623560"/>
            <a:ext cx="1097280" cy="457200"/>
          </a:xfrm>
          <a:prstGeom prst="rect">
            <a:avLst/>
          </a:prstGeom>
          <a:noFill/>
          <a:ln/>
        </p:spPr>
        <p:txBody>
          <a:bodyPr wrap="square" rtlCol="0" anchor="ctr"/>
          <a:lstStyle/>
          <a:p>
            <a:pPr algn="ctr" indent="0" marL="0">
              <a:buNone/>
            </a:pPr>
            <a:r>
              <a:rPr lang="en-US" sz="1050" b="1" dirty="0">
                <a:solidFill>
                  <a:srgbClr val="2B2B2B"/>
                </a:solidFill>
                <a:latin typeface="Calibri" pitchFamily="34" charset="0"/>
                <a:ea typeface="Calibri" pitchFamily="34" charset="-122"/>
                <a:cs typeface="Calibri" pitchFamily="34" charset="-120"/>
              </a:rPr>
              <a:t>Promotions</a:t>
            </a:r>
            <a:endParaRPr lang="en-US" sz="1050" dirty="0"/>
          </a:p>
        </p:txBody>
      </p:sp>
      <p:sp>
        <p:nvSpPr>
          <p:cNvPr id="22" name="Shape 15"/>
          <p:cNvSpPr/>
          <p:nvPr/>
        </p:nvSpPr>
        <p:spPr>
          <a:xfrm>
            <a:off x="4663440" y="5120640"/>
            <a:ext cx="457200" cy="457200"/>
          </a:xfrm>
          <a:prstGeom prst="ellipse">
            <a:avLst/>
          </a:prstGeom>
          <a:solidFill>
            <a:srgbClr val="59A33A"/>
          </a:solidFill>
          <a:ln/>
        </p:spPr>
      </p:sp>
      <p:pic>
        <p:nvPicPr>
          <p:cNvPr id="23" name="Image 5" descr="/home/claude/theatre_deck/assets/icons/building_white.png">    </p:cNvPr>
          <p:cNvPicPr>
            <a:picLocks noChangeAspect="1"/>
          </p:cNvPicPr>
          <p:nvPr/>
        </p:nvPicPr>
        <p:blipFill>
          <a:blip r:embed="rId6"/>
          <a:stretch>
            <a:fillRect/>
          </a:stretch>
        </p:blipFill>
        <p:spPr>
          <a:xfrm>
            <a:off x="4773168" y="5230368"/>
            <a:ext cx="237744" cy="237744"/>
          </a:xfrm>
          <a:prstGeom prst="rect">
            <a:avLst/>
          </a:prstGeom>
        </p:spPr>
      </p:pic>
      <p:sp>
        <p:nvSpPr>
          <p:cNvPr id="24" name="Text 16"/>
          <p:cNvSpPr/>
          <p:nvPr/>
        </p:nvSpPr>
        <p:spPr>
          <a:xfrm>
            <a:off x="4343400" y="5623560"/>
            <a:ext cx="1097280" cy="457200"/>
          </a:xfrm>
          <a:prstGeom prst="rect">
            <a:avLst/>
          </a:prstGeom>
          <a:noFill/>
          <a:ln/>
        </p:spPr>
        <p:txBody>
          <a:bodyPr wrap="square" rtlCol="0" anchor="ctr"/>
          <a:lstStyle/>
          <a:p>
            <a:pPr algn="ctr" indent="0" marL="0">
              <a:buNone/>
            </a:pPr>
            <a:r>
              <a:rPr lang="en-US" sz="1050" b="1" dirty="0">
                <a:solidFill>
                  <a:srgbClr val="2B2B2B"/>
                </a:solidFill>
                <a:latin typeface="Calibri" pitchFamily="34" charset="0"/>
                <a:ea typeface="Calibri" pitchFamily="34" charset="-122"/>
                <a:cs typeface="Calibri" pitchFamily="34" charset="-120"/>
              </a:rPr>
              <a:t>Theatre performance</a:t>
            </a:r>
            <a:endParaRPr lang="en-US" sz="1050" dirty="0"/>
          </a:p>
        </p:txBody>
      </p:sp>
      <p:sp>
        <p:nvSpPr>
          <p:cNvPr id="25" name="Shape 17"/>
          <p:cNvSpPr/>
          <p:nvPr/>
        </p:nvSpPr>
        <p:spPr>
          <a:xfrm>
            <a:off x="7040880" y="1463040"/>
            <a:ext cx="4572000" cy="4663440"/>
          </a:xfrm>
          <a:prstGeom prst="roundRect">
            <a:avLst>
              <a:gd name="adj" fmla="val 2000"/>
            </a:avLst>
          </a:prstGeom>
          <a:solidFill>
            <a:srgbClr val="3A3D40"/>
          </a:solidFill>
          <a:ln/>
          <a:effectLst>
            <a:outerShdw sx="100000" sy="100000" kx="0" ky="0" algn="bl" rotWithShape="0" blurRad="101600" dist="38100" dir="5400000">
              <a:srgbClr val="888888">
                <a:alpha val="30000"/>
              </a:srgbClr>
            </a:outerShdw>
          </a:effectLst>
        </p:spPr>
      </p:sp>
      <p:sp>
        <p:nvSpPr>
          <p:cNvPr id="26" name="Shape 18"/>
          <p:cNvSpPr/>
          <p:nvPr/>
        </p:nvSpPr>
        <p:spPr>
          <a:xfrm>
            <a:off x="9006840" y="1828800"/>
            <a:ext cx="640080" cy="640080"/>
          </a:xfrm>
          <a:prstGeom prst="ellipse">
            <a:avLst/>
          </a:prstGeom>
          <a:solidFill>
            <a:srgbClr val="59A33A"/>
          </a:solidFill>
          <a:ln/>
        </p:spPr>
      </p:sp>
      <p:pic>
        <p:nvPicPr>
          <p:cNvPr id="27" name="Image 6" descr="/home/claude/theatre_deck/assets/icons/map_white.png">    </p:cNvPr>
          <p:cNvPicPr>
            <a:picLocks noChangeAspect="1"/>
          </p:cNvPicPr>
          <p:nvPr/>
        </p:nvPicPr>
        <p:blipFill>
          <a:blip r:embed="rId7"/>
          <a:stretch>
            <a:fillRect/>
          </a:stretch>
        </p:blipFill>
        <p:spPr>
          <a:xfrm>
            <a:off x="9153144" y="1975104"/>
            <a:ext cx="347472" cy="347472"/>
          </a:xfrm>
          <a:prstGeom prst="rect">
            <a:avLst/>
          </a:prstGeom>
        </p:spPr>
      </p:pic>
      <p:sp>
        <p:nvSpPr>
          <p:cNvPr id="28" name="Text 19"/>
          <p:cNvSpPr/>
          <p:nvPr/>
        </p:nvSpPr>
        <p:spPr>
          <a:xfrm>
            <a:off x="7223760" y="2606040"/>
            <a:ext cx="4206240" cy="36576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Tamil Nadu Network</a:t>
            </a:r>
            <a:endParaRPr lang="en-US" sz="1700" dirty="0"/>
          </a:p>
        </p:txBody>
      </p:sp>
      <p:sp>
        <p:nvSpPr>
          <p:cNvPr id="29" name="Text 20"/>
          <p:cNvSpPr/>
          <p:nvPr/>
        </p:nvSpPr>
        <p:spPr>
          <a:xfrm>
            <a:off x="7406640" y="3017520"/>
            <a:ext cx="3840480" cy="457200"/>
          </a:xfrm>
          <a:prstGeom prst="rect">
            <a:avLst/>
          </a:prstGeom>
          <a:noFill/>
          <a:ln/>
        </p:spPr>
        <p:txBody>
          <a:bodyPr wrap="square" rtlCol="0" anchor="ctr"/>
          <a:lstStyle/>
          <a:p>
            <a:pPr algn="ctr" indent="0" marL="0">
              <a:buNone/>
            </a:pPr>
            <a:r>
              <a:rPr lang="en-US" sz="1100" dirty="0">
                <a:solidFill>
                  <a:srgbClr val="C9CBCA"/>
                </a:solidFill>
                <a:latin typeface="Calibri" pitchFamily="34" charset="0"/>
                <a:ea typeface="Calibri" pitchFamily="34" charset="-122"/>
                <a:cs typeface="Calibri" pitchFamily="34" charset="-120"/>
              </a:rPr>
              <a:t>Multiple CineMax theatres operating across the state</a:t>
            </a:r>
            <a:endParaRPr lang="en-US" sz="1100" dirty="0"/>
          </a:p>
        </p:txBody>
      </p:sp>
      <p:sp>
        <p:nvSpPr>
          <p:cNvPr id="30" name="Shape 21"/>
          <p:cNvSpPr/>
          <p:nvPr/>
        </p:nvSpPr>
        <p:spPr>
          <a:xfrm>
            <a:off x="7452360" y="3666744"/>
            <a:ext cx="91440" cy="91440"/>
          </a:xfrm>
          <a:prstGeom prst="ellipse">
            <a:avLst/>
          </a:prstGeom>
          <a:solidFill>
            <a:srgbClr val="59A33A"/>
          </a:solidFill>
          <a:ln/>
        </p:spPr>
      </p:sp>
      <p:sp>
        <p:nvSpPr>
          <p:cNvPr id="31" name="Text 22"/>
          <p:cNvSpPr/>
          <p:nvPr/>
        </p:nvSpPr>
        <p:spPr>
          <a:xfrm>
            <a:off x="7680960" y="3557016"/>
            <a:ext cx="356616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CineMax Velachery</a:t>
            </a:r>
            <a:endParaRPr lang="en-US" sz="1200" dirty="0"/>
          </a:p>
        </p:txBody>
      </p:sp>
      <p:sp>
        <p:nvSpPr>
          <p:cNvPr id="32" name="Shape 23"/>
          <p:cNvSpPr/>
          <p:nvPr/>
        </p:nvSpPr>
        <p:spPr>
          <a:xfrm>
            <a:off x="7452360" y="4069080"/>
            <a:ext cx="91440" cy="91440"/>
          </a:xfrm>
          <a:prstGeom prst="ellipse">
            <a:avLst/>
          </a:prstGeom>
          <a:solidFill>
            <a:srgbClr val="59A33A"/>
          </a:solidFill>
          <a:ln/>
        </p:spPr>
      </p:sp>
      <p:sp>
        <p:nvSpPr>
          <p:cNvPr id="33" name="Text 24"/>
          <p:cNvSpPr/>
          <p:nvPr/>
        </p:nvSpPr>
        <p:spPr>
          <a:xfrm>
            <a:off x="7680960" y="3959352"/>
            <a:ext cx="356616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CineMax Katpadi</a:t>
            </a:r>
            <a:endParaRPr lang="en-US" sz="1200" dirty="0"/>
          </a:p>
        </p:txBody>
      </p:sp>
      <p:sp>
        <p:nvSpPr>
          <p:cNvPr id="34" name="Shape 25"/>
          <p:cNvSpPr/>
          <p:nvPr/>
        </p:nvSpPr>
        <p:spPr>
          <a:xfrm>
            <a:off x="7452360" y="4471416"/>
            <a:ext cx="91440" cy="91440"/>
          </a:xfrm>
          <a:prstGeom prst="ellipse">
            <a:avLst/>
          </a:prstGeom>
          <a:solidFill>
            <a:srgbClr val="59A33A"/>
          </a:solidFill>
          <a:ln/>
        </p:spPr>
      </p:sp>
      <p:sp>
        <p:nvSpPr>
          <p:cNvPr id="35" name="Text 26"/>
          <p:cNvSpPr/>
          <p:nvPr/>
        </p:nvSpPr>
        <p:spPr>
          <a:xfrm>
            <a:off x="7680960" y="4361688"/>
            <a:ext cx="356616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CineMax Trichy</a:t>
            </a:r>
            <a:endParaRPr lang="en-US" sz="1200" dirty="0"/>
          </a:p>
        </p:txBody>
      </p:sp>
      <p:sp>
        <p:nvSpPr>
          <p:cNvPr id="36" name="Shape 27"/>
          <p:cNvSpPr/>
          <p:nvPr/>
        </p:nvSpPr>
        <p:spPr>
          <a:xfrm>
            <a:off x="7452360" y="4873752"/>
            <a:ext cx="91440" cy="91440"/>
          </a:xfrm>
          <a:prstGeom prst="ellipse">
            <a:avLst/>
          </a:prstGeom>
          <a:solidFill>
            <a:srgbClr val="59A33A"/>
          </a:solidFill>
          <a:ln/>
        </p:spPr>
      </p:sp>
      <p:sp>
        <p:nvSpPr>
          <p:cNvPr id="37" name="Text 28"/>
          <p:cNvSpPr/>
          <p:nvPr/>
        </p:nvSpPr>
        <p:spPr>
          <a:xfrm>
            <a:off x="7680960" y="4764024"/>
            <a:ext cx="356616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CineMax Anna Nagar</a:t>
            </a:r>
            <a:endParaRPr lang="en-US" sz="1200" dirty="0"/>
          </a:p>
        </p:txBody>
      </p:sp>
      <p:sp>
        <p:nvSpPr>
          <p:cNvPr id="38" name="Shape 29"/>
          <p:cNvSpPr/>
          <p:nvPr/>
        </p:nvSpPr>
        <p:spPr>
          <a:xfrm>
            <a:off x="7452360" y="5276088"/>
            <a:ext cx="91440" cy="91440"/>
          </a:xfrm>
          <a:prstGeom prst="ellipse">
            <a:avLst/>
          </a:prstGeom>
          <a:solidFill>
            <a:srgbClr val="59A33A"/>
          </a:solidFill>
          <a:ln/>
        </p:spPr>
      </p:sp>
      <p:sp>
        <p:nvSpPr>
          <p:cNvPr id="39" name="Text 30"/>
          <p:cNvSpPr/>
          <p:nvPr/>
        </p:nvSpPr>
        <p:spPr>
          <a:xfrm>
            <a:off x="7680960" y="5166360"/>
            <a:ext cx="356616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CineMax Salem</a:t>
            </a:r>
            <a:endParaRPr lang="en-US" sz="1200" dirty="0"/>
          </a:p>
        </p:txBody>
      </p:sp>
      <p:sp>
        <p:nvSpPr>
          <p:cNvPr id="40" name="Shape 31"/>
          <p:cNvSpPr/>
          <p:nvPr/>
        </p:nvSpPr>
        <p:spPr>
          <a:xfrm>
            <a:off x="7452360" y="5678424"/>
            <a:ext cx="91440" cy="91440"/>
          </a:xfrm>
          <a:prstGeom prst="ellipse">
            <a:avLst/>
          </a:prstGeom>
          <a:solidFill>
            <a:srgbClr val="59A33A"/>
          </a:solidFill>
          <a:ln/>
        </p:spPr>
      </p:sp>
      <p:sp>
        <p:nvSpPr>
          <p:cNvPr id="41" name="Text 32"/>
          <p:cNvSpPr/>
          <p:nvPr/>
        </p:nvSpPr>
        <p:spPr>
          <a:xfrm>
            <a:off x="7680960" y="5568696"/>
            <a:ext cx="356616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CineMax Erode</a:t>
            </a:r>
            <a:endParaRPr lang="en-US" sz="1200" dirty="0"/>
          </a:p>
        </p:txBody>
      </p:sp>
      <p:sp>
        <p:nvSpPr>
          <p:cNvPr id="42" name="Text 33"/>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7A7D7F"/>
                </a:solidFill>
                <a:latin typeface="Calibri" pitchFamily="34" charset="0"/>
                <a:ea typeface="Calibri" pitchFamily="34" charset="-122"/>
                <a:cs typeface="Calibri" pitchFamily="34" charset="-120"/>
              </a:rPr>
              <a:t>CineMax Multiplex Pvt. Ltd.  |  Revenue &amp; Operations Analytics</a:t>
            </a:r>
            <a:endParaRPr lang="en-US" sz="900" dirty="0"/>
          </a:p>
        </p:txBody>
      </p:sp>
      <p:sp>
        <p:nvSpPr>
          <p:cNvPr id="43" name="Text 3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A7D7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A3D40"/>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59A33A"/>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548640" y="658368"/>
            <a:ext cx="10607040" cy="658368"/>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Problem Statement</a:t>
            </a:r>
            <a:endParaRPr lang="en-US" sz="3000" dirty="0"/>
          </a:p>
        </p:txBody>
      </p:sp>
      <p:sp>
        <p:nvSpPr>
          <p:cNvPr id="4" name="Text 2"/>
          <p:cNvSpPr/>
          <p:nvPr/>
        </p:nvSpPr>
        <p:spPr>
          <a:xfrm>
            <a:off x="548640" y="1371600"/>
            <a:ext cx="10515600" cy="365760"/>
          </a:xfrm>
          <a:prstGeom prst="rect">
            <a:avLst/>
          </a:prstGeom>
          <a:noFill/>
          <a:ln/>
        </p:spPr>
        <p:txBody>
          <a:bodyPr wrap="square" rtlCol="0" anchor="ctr"/>
          <a:lstStyle/>
          <a:p>
            <a:pPr indent="0" marL="0">
              <a:buNone/>
            </a:pPr>
            <a:r>
              <a:rPr lang="en-US" sz="1350" dirty="0">
                <a:solidFill>
                  <a:srgbClr val="C9CBCA"/>
                </a:solidFill>
                <a:latin typeface="Calibri" pitchFamily="34" charset="0"/>
                <a:ea typeface="Calibri" pitchFamily="34" charset="-122"/>
                <a:cs typeface="Calibri" pitchFamily="34" charset="-120"/>
              </a:rPr>
              <a:t>Today, decision-making is slowed down by scattered, manual, and incomplete reporting.</a:t>
            </a:r>
            <a:endParaRPr lang="en-US" sz="1350" dirty="0"/>
          </a:p>
        </p:txBody>
      </p:sp>
      <p:sp>
        <p:nvSpPr>
          <p:cNvPr id="5" name="Shape 3"/>
          <p:cNvSpPr/>
          <p:nvPr/>
        </p:nvSpPr>
        <p:spPr>
          <a:xfrm>
            <a:off x="548640" y="1965960"/>
            <a:ext cx="5257800" cy="1188720"/>
          </a:xfrm>
          <a:prstGeom prst="roundRect">
            <a:avLst>
              <a:gd name="adj" fmla="val 6154"/>
            </a:avLst>
          </a:prstGeom>
          <a:solidFill>
            <a:srgbClr val="2B2E30"/>
          </a:solidFill>
          <a:ln/>
        </p:spPr>
      </p:sp>
      <p:sp>
        <p:nvSpPr>
          <p:cNvPr id="6" name="Shape 4"/>
          <p:cNvSpPr/>
          <p:nvPr/>
        </p:nvSpPr>
        <p:spPr>
          <a:xfrm>
            <a:off x="777240" y="2221992"/>
            <a:ext cx="457200" cy="457200"/>
          </a:xfrm>
          <a:prstGeom prst="ellipse">
            <a:avLst/>
          </a:prstGeom>
          <a:solidFill>
            <a:srgbClr val="59A33A"/>
          </a:solidFill>
          <a:ln/>
        </p:spPr>
      </p:sp>
      <p:pic>
        <p:nvPicPr>
          <p:cNvPr id="7" name="Image 0" descr="/home/claude/theatre_deck/assets/icons/clipboard_white.png">    </p:cNvPr>
          <p:cNvPicPr>
            <a:picLocks noChangeAspect="1"/>
          </p:cNvPicPr>
          <p:nvPr/>
        </p:nvPicPr>
        <p:blipFill>
          <a:blip r:embed="rId1"/>
          <a:stretch>
            <a:fillRect/>
          </a:stretch>
        </p:blipFill>
        <p:spPr>
          <a:xfrm>
            <a:off x="886968" y="2331720"/>
            <a:ext cx="237744" cy="237744"/>
          </a:xfrm>
          <a:prstGeom prst="rect">
            <a:avLst/>
          </a:prstGeom>
        </p:spPr>
      </p:pic>
      <p:sp>
        <p:nvSpPr>
          <p:cNvPr id="8" name="Text 5"/>
          <p:cNvSpPr/>
          <p:nvPr/>
        </p:nvSpPr>
        <p:spPr>
          <a:xfrm>
            <a:off x="1399032" y="2185416"/>
            <a:ext cx="4178808"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centralized reporting</a:t>
            </a:r>
            <a:endParaRPr lang="en-US" sz="1300" dirty="0"/>
          </a:p>
        </p:txBody>
      </p:sp>
      <p:sp>
        <p:nvSpPr>
          <p:cNvPr id="9" name="Text 6"/>
          <p:cNvSpPr/>
          <p:nvPr/>
        </p:nvSpPr>
        <p:spPr>
          <a:xfrm>
            <a:off x="1399032" y="2459736"/>
            <a:ext cx="4178808" cy="566928"/>
          </a:xfrm>
          <a:prstGeom prst="rect">
            <a:avLst/>
          </a:prstGeom>
          <a:noFill/>
          <a:ln/>
        </p:spPr>
        <p:txBody>
          <a:bodyPr wrap="square" lIns="0" tIns="0" rIns="0" bIns="0" rtlCol="0" anchor="ctr"/>
          <a:lstStyle/>
          <a:p>
            <a:pPr indent="0" marL="0">
              <a:lnSpc>
                <a:spcPct val="105000"/>
              </a:lnSpc>
              <a:buNone/>
            </a:pPr>
            <a:r>
              <a:rPr lang="en-US" sz="1050" dirty="0">
                <a:solidFill>
                  <a:srgbClr val="C9CBCA"/>
                </a:solidFill>
                <a:latin typeface="Calibri" pitchFamily="34" charset="0"/>
                <a:ea typeface="Calibri" pitchFamily="34" charset="-122"/>
                <a:cs typeface="Calibri" pitchFamily="34" charset="-120"/>
              </a:rPr>
              <a:t>Data lives in separate files across theatres and teams.</a:t>
            </a:r>
            <a:endParaRPr lang="en-US" sz="1050" dirty="0"/>
          </a:p>
        </p:txBody>
      </p:sp>
      <p:sp>
        <p:nvSpPr>
          <p:cNvPr id="10" name="Shape 7"/>
          <p:cNvSpPr/>
          <p:nvPr/>
        </p:nvSpPr>
        <p:spPr>
          <a:xfrm>
            <a:off x="6126480" y="1965960"/>
            <a:ext cx="5257800" cy="1188720"/>
          </a:xfrm>
          <a:prstGeom prst="roundRect">
            <a:avLst>
              <a:gd name="adj" fmla="val 6154"/>
            </a:avLst>
          </a:prstGeom>
          <a:solidFill>
            <a:srgbClr val="2B2E30"/>
          </a:solidFill>
          <a:ln/>
        </p:spPr>
      </p:sp>
      <p:sp>
        <p:nvSpPr>
          <p:cNvPr id="11" name="Shape 8"/>
          <p:cNvSpPr/>
          <p:nvPr/>
        </p:nvSpPr>
        <p:spPr>
          <a:xfrm>
            <a:off x="6355080" y="2221992"/>
            <a:ext cx="457200" cy="457200"/>
          </a:xfrm>
          <a:prstGeom prst="ellipse">
            <a:avLst/>
          </a:prstGeom>
          <a:solidFill>
            <a:srgbClr val="59A33A"/>
          </a:solidFill>
          <a:ln/>
        </p:spPr>
      </p:sp>
      <p:pic>
        <p:nvPicPr>
          <p:cNvPr id="12" name="Image 1" descr="/home/claude/theatre_deck/assets/icons/searchdollar_white.png">    </p:cNvPr>
          <p:cNvPicPr>
            <a:picLocks noChangeAspect="1"/>
          </p:cNvPicPr>
          <p:nvPr/>
        </p:nvPicPr>
        <p:blipFill>
          <a:blip r:embed="rId2"/>
          <a:stretch>
            <a:fillRect/>
          </a:stretch>
        </p:blipFill>
        <p:spPr>
          <a:xfrm>
            <a:off x="6464808" y="2331720"/>
            <a:ext cx="237744" cy="237744"/>
          </a:xfrm>
          <a:prstGeom prst="rect">
            <a:avLst/>
          </a:prstGeom>
        </p:spPr>
      </p:pic>
      <p:sp>
        <p:nvSpPr>
          <p:cNvPr id="13" name="Text 9"/>
          <p:cNvSpPr/>
          <p:nvPr/>
        </p:nvSpPr>
        <p:spPr>
          <a:xfrm>
            <a:off x="6976872" y="2185416"/>
            <a:ext cx="4178808"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Difficulty tracking revenue</a:t>
            </a:r>
            <a:endParaRPr lang="en-US" sz="1300" dirty="0"/>
          </a:p>
        </p:txBody>
      </p:sp>
      <p:sp>
        <p:nvSpPr>
          <p:cNvPr id="14" name="Text 10"/>
          <p:cNvSpPr/>
          <p:nvPr/>
        </p:nvSpPr>
        <p:spPr>
          <a:xfrm>
            <a:off x="6976872" y="2459736"/>
            <a:ext cx="4178808" cy="566928"/>
          </a:xfrm>
          <a:prstGeom prst="rect">
            <a:avLst/>
          </a:prstGeom>
          <a:noFill/>
          <a:ln/>
        </p:spPr>
        <p:txBody>
          <a:bodyPr wrap="square" lIns="0" tIns="0" rIns="0" bIns="0" rtlCol="0" anchor="ctr"/>
          <a:lstStyle/>
          <a:p>
            <a:pPr indent="0" marL="0">
              <a:lnSpc>
                <a:spcPct val="105000"/>
              </a:lnSpc>
              <a:buNone/>
            </a:pPr>
            <a:r>
              <a:rPr lang="en-US" sz="1050" dirty="0">
                <a:solidFill>
                  <a:srgbClr val="C9CBCA"/>
                </a:solidFill>
                <a:latin typeface="Calibri" pitchFamily="34" charset="0"/>
                <a:ea typeface="Calibri" pitchFamily="34" charset="-122"/>
                <a:cs typeface="Calibri" pitchFamily="34" charset="-120"/>
              </a:rPr>
              <a:t>Hard to see true revenue trends as they happen.</a:t>
            </a:r>
            <a:endParaRPr lang="en-US" sz="1050" dirty="0"/>
          </a:p>
        </p:txBody>
      </p:sp>
      <p:sp>
        <p:nvSpPr>
          <p:cNvPr id="15" name="Shape 11"/>
          <p:cNvSpPr/>
          <p:nvPr/>
        </p:nvSpPr>
        <p:spPr>
          <a:xfrm>
            <a:off x="548640" y="3383280"/>
            <a:ext cx="5257800" cy="1188720"/>
          </a:xfrm>
          <a:prstGeom prst="roundRect">
            <a:avLst>
              <a:gd name="adj" fmla="val 6154"/>
            </a:avLst>
          </a:prstGeom>
          <a:solidFill>
            <a:srgbClr val="2B2E30"/>
          </a:solidFill>
          <a:ln/>
        </p:spPr>
      </p:sp>
      <p:sp>
        <p:nvSpPr>
          <p:cNvPr id="16" name="Shape 12"/>
          <p:cNvSpPr/>
          <p:nvPr/>
        </p:nvSpPr>
        <p:spPr>
          <a:xfrm>
            <a:off x="777240" y="3639312"/>
            <a:ext cx="457200" cy="457200"/>
          </a:xfrm>
          <a:prstGeom prst="ellipse">
            <a:avLst/>
          </a:prstGeom>
          <a:solidFill>
            <a:srgbClr val="59A33A"/>
          </a:solidFill>
          <a:ln/>
        </p:spPr>
      </p:sp>
      <p:pic>
        <p:nvPicPr>
          <p:cNvPr id="17" name="Image 2" descr="/home/claude/theatre_deck/assets/icons/bar_white.png">    </p:cNvPr>
          <p:cNvPicPr>
            <a:picLocks noChangeAspect="1"/>
          </p:cNvPicPr>
          <p:nvPr/>
        </p:nvPicPr>
        <p:blipFill>
          <a:blip r:embed="rId3"/>
          <a:stretch>
            <a:fillRect/>
          </a:stretch>
        </p:blipFill>
        <p:spPr>
          <a:xfrm>
            <a:off x="886968" y="3749040"/>
            <a:ext cx="237744" cy="237744"/>
          </a:xfrm>
          <a:prstGeom prst="rect">
            <a:avLst/>
          </a:prstGeom>
        </p:spPr>
      </p:pic>
      <p:sp>
        <p:nvSpPr>
          <p:cNvPr id="18" name="Text 13"/>
          <p:cNvSpPr/>
          <p:nvPr/>
        </p:nvSpPr>
        <p:spPr>
          <a:xfrm>
            <a:off x="1399032" y="3602736"/>
            <a:ext cx="4178808"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Inconsistent theatre performance</a:t>
            </a:r>
            <a:endParaRPr lang="en-US" sz="1300" dirty="0"/>
          </a:p>
        </p:txBody>
      </p:sp>
      <p:sp>
        <p:nvSpPr>
          <p:cNvPr id="19" name="Text 14"/>
          <p:cNvSpPr/>
          <p:nvPr/>
        </p:nvSpPr>
        <p:spPr>
          <a:xfrm>
            <a:off x="1399032" y="3877056"/>
            <a:ext cx="4178808" cy="566928"/>
          </a:xfrm>
          <a:prstGeom prst="rect">
            <a:avLst/>
          </a:prstGeom>
          <a:noFill/>
          <a:ln/>
        </p:spPr>
        <p:txBody>
          <a:bodyPr wrap="square" lIns="0" tIns="0" rIns="0" bIns="0" rtlCol="0" anchor="ctr"/>
          <a:lstStyle/>
          <a:p>
            <a:pPr indent="0" marL="0">
              <a:lnSpc>
                <a:spcPct val="105000"/>
              </a:lnSpc>
              <a:buNone/>
            </a:pPr>
            <a:r>
              <a:rPr lang="en-US" sz="1050" dirty="0">
                <a:solidFill>
                  <a:srgbClr val="C9CBCA"/>
                </a:solidFill>
                <a:latin typeface="Calibri" pitchFamily="34" charset="0"/>
                <a:ea typeface="Calibri" pitchFamily="34" charset="-122"/>
                <a:cs typeface="Calibri" pitchFamily="34" charset="-120"/>
              </a:rPr>
              <a:t>No easy way to compare theatres side by side.</a:t>
            </a:r>
            <a:endParaRPr lang="en-US" sz="1050" dirty="0"/>
          </a:p>
        </p:txBody>
      </p:sp>
      <p:sp>
        <p:nvSpPr>
          <p:cNvPr id="20" name="Shape 15"/>
          <p:cNvSpPr/>
          <p:nvPr/>
        </p:nvSpPr>
        <p:spPr>
          <a:xfrm>
            <a:off x="6126480" y="3383280"/>
            <a:ext cx="5257800" cy="1188720"/>
          </a:xfrm>
          <a:prstGeom prst="roundRect">
            <a:avLst>
              <a:gd name="adj" fmla="val 6154"/>
            </a:avLst>
          </a:prstGeom>
          <a:solidFill>
            <a:srgbClr val="2B2E30"/>
          </a:solidFill>
          <a:ln/>
        </p:spPr>
      </p:sp>
      <p:sp>
        <p:nvSpPr>
          <p:cNvPr id="21" name="Shape 16"/>
          <p:cNvSpPr/>
          <p:nvPr/>
        </p:nvSpPr>
        <p:spPr>
          <a:xfrm>
            <a:off x="6355080" y="3639312"/>
            <a:ext cx="457200" cy="457200"/>
          </a:xfrm>
          <a:prstGeom prst="ellipse">
            <a:avLst/>
          </a:prstGeom>
          <a:solidFill>
            <a:srgbClr val="59A33A"/>
          </a:solidFill>
          <a:ln/>
        </p:spPr>
      </p:sp>
      <p:pic>
        <p:nvPicPr>
          <p:cNvPr id="22" name="Image 3" descr="/home/claude/theatre_deck/assets/icons/users_white.png">    </p:cNvPr>
          <p:cNvPicPr>
            <a:picLocks noChangeAspect="1"/>
          </p:cNvPicPr>
          <p:nvPr/>
        </p:nvPicPr>
        <p:blipFill>
          <a:blip r:embed="rId4"/>
          <a:stretch>
            <a:fillRect/>
          </a:stretch>
        </p:blipFill>
        <p:spPr>
          <a:xfrm>
            <a:off x="6464808" y="3749040"/>
            <a:ext cx="237744" cy="237744"/>
          </a:xfrm>
          <a:prstGeom prst="rect">
            <a:avLst/>
          </a:prstGeom>
        </p:spPr>
      </p:pic>
      <p:sp>
        <p:nvSpPr>
          <p:cNvPr id="23" name="Text 17"/>
          <p:cNvSpPr/>
          <p:nvPr/>
        </p:nvSpPr>
        <p:spPr>
          <a:xfrm>
            <a:off x="6976872" y="3602736"/>
            <a:ext cx="4178808"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Limited visibility into occupancy</a:t>
            </a:r>
            <a:endParaRPr lang="en-US" sz="1300" dirty="0"/>
          </a:p>
        </p:txBody>
      </p:sp>
      <p:sp>
        <p:nvSpPr>
          <p:cNvPr id="24" name="Text 18"/>
          <p:cNvSpPr/>
          <p:nvPr/>
        </p:nvSpPr>
        <p:spPr>
          <a:xfrm>
            <a:off x="6976872" y="3877056"/>
            <a:ext cx="4178808" cy="566928"/>
          </a:xfrm>
          <a:prstGeom prst="rect">
            <a:avLst/>
          </a:prstGeom>
          <a:noFill/>
          <a:ln/>
        </p:spPr>
        <p:txBody>
          <a:bodyPr wrap="square" lIns="0" tIns="0" rIns="0" bIns="0" rtlCol="0" anchor="ctr"/>
          <a:lstStyle/>
          <a:p>
            <a:pPr indent="0" marL="0">
              <a:lnSpc>
                <a:spcPct val="105000"/>
              </a:lnSpc>
              <a:buNone/>
            </a:pPr>
            <a:r>
              <a:rPr lang="en-US" sz="1050" dirty="0">
                <a:solidFill>
                  <a:srgbClr val="C9CBCA"/>
                </a:solidFill>
                <a:latin typeface="Calibri" pitchFamily="34" charset="0"/>
                <a:ea typeface="Calibri" pitchFamily="34" charset="-122"/>
                <a:cs typeface="Calibri" pitchFamily="34" charset="-120"/>
              </a:rPr>
              <a:t>Seat utilization is not tracked consistently.</a:t>
            </a:r>
            <a:endParaRPr lang="en-US" sz="1050" dirty="0"/>
          </a:p>
        </p:txBody>
      </p:sp>
      <p:sp>
        <p:nvSpPr>
          <p:cNvPr id="25" name="Shape 19"/>
          <p:cNvSpPr/>
          <p:nvPr/>
        </p:nvSpPr>
        <p:spPr>
          <a:xfrm>
            <a:off x="548640" y="4800600"/>
            <a:ext cx="5257800" cy="1188720"/>
          </a:xfrm>
          <a:prstGeom prst="roundRect">
            <a:avLst>
              <a:gd name="adj" fmla="val 6154"/>
            </a:avLst>
          </a:prstGeom>
          <a:solidFill>
            <a:srgbClr val="2B2E30"/>
          </a:solidFill>
          <a:ln/>
        </p:spPr>
      </p:sp>
      <p:sp>
        <p:nvSpPr>
          <p:cNvPr id="26" name="Shape 20"/>
          <p:cNvSpPr/>
          <p:nvPr/>
        </p:nvSpPr>
        <p:spPr>
          <a:xfrm>
            <a:off x="777240" y="5056632"/>
            <a:ext cx="457200" cy="457200"/>
          </a:xfrm>
          <a:prstGeom prst="ellipse">
            <a:avLst/>
          </a:prstGeom>
          <a:solidFill>
            <a:srgbClr val="59A33A"/>
          </a:solidFill>
          <a:ln/>
        </p:spPr>
      </p:sp>
      <p:pic>
        <p:nvPicPr>
          <p:cNvPr id="27" name="Image 4" descr="/home/claude/theatre_deck/assets/icons/tags_white.png">    </p:cNvPr>
          <p:cNvPicPr>
            <a:picLocks noChangeAspect="1"/>
          </p:cNvPicPr>
          <p:nvPr/>
        </p:nvPicPr>
        <p:blipFill>
          <a:blip r:embed="rId5"/>
          <a:stretch>
            <a:fillRect/>
          </a:stretch>
        </p:blipFill>
        <p:spPr>
          <a:xfrm>
            <a:off x="886968" y="5166360"/>
            <a:ext cx="237744" cy="237744"/>
          </a:xfrm>
          <a:prstGeom prst="rect">
            <a:avLst/>
          </a:prstGeom>
        </p:spPr>
      </p:pic>
      <p:sp>
        <p:nvSpPr>
          <p:cNvPr id="28" name="Text 21"/>
          <p:cNvSpPr/>
          <p:nvPr/>
        </p:nvSpPr>
        <p:spPr>
          <a:xfrm>
            <a:off x="1399032" y="5020056"/>
            <a:ext cx="4178808"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Difficult to evaluate promotions</a:t>
            </a:r>
            <a:endParaRPr lang="en-US" sz="1300" dirty="0"/>
          </a:p>
        </p:txBody>
      </p:sp>
      <p:sp>
        <p:nvSpPr>
          <p:cNvPr id="29" name="Text 22"/>
          <p:cNvSpPr/>
          <p:nvPr/>
        </p:nvSpPr>
        <p:spPr>
          <a:xfrm>
            <a:off x="1399032" y="5294376"/>
            <a:ext cx="4178808" cy="566928"/>
          </a:xfrm>
          <a:prstGeom prst="rect">
            <a:avLst/>
          </a:prstGeom>
          <a:noFill/>
          <a:ln/>
        </p:spPr>
        <p:txBody>
          <a:bodyPr wrap="square" lIns="0" tIns="0" rIns="0" bIns="0" rtlCol="0" anchor="ctr"/>
          <a:lstStyle/>
          <a:p>
            <a:pPr indent="0" marL="0">
              <a:lnSpc>
                <a:spcPct val="105000"/>
              </a:lnSpc>
              <a:buNone/>
            </a:pPr>
            <a:r>
              <a:rPr lang="en-US" sz="1050" dirty="0">
                <a:solidFill>
                  <a:srgbClr val="C9CBCA"/>
                </a:solidFill>
                <a:latin typeface="Calibri" pitchFamily="34" charset="0"/>
                <a:ea typeface="Calibri" pitchFamily="34" charset="-122"/>
                <a:cs typeface="Calibri" pitchFamily="34" charset="-120"/>
              </a:rPr>
              <a:t>Unclear which offers actually drive revenue.</a:t>
            </a:r>
            <a:endParaRPr lang="en-US" sz="1050" dirty="0"/>
          </a:p>
        </p:txBody>
      </p:sp>
      <p:sp>
        <p:nvSpPr>
          <p:cNvPr id="30" name="Shape 23"/>
          <p:cNvSpPr/>
          <p:nvPr/>
        </p:nvSpPr>
        <p:spPr>
          <a:xfrm>
            <a:off x="6126480" y="4800600"/>
            <a:ext cx="5257800" cy="1188720"/>
          </a:xfrm>
          <a:prstGeom prst="roundRect">
            <a:avLst>
              <a:gd name="adj" fmla="val 6154"/>
            </a:avLst>
          </a:prstGeom>
          <a:solidFill>
            <a:srgbClr val="2B2E30"/>
          </a:solidFill>
          <a:ln/>
        </p:spPr>
      </p:sp>
      <p:sp>
        <p:nvSpPr>
          <p:cNvPr id="31" name="Shape 24"/>
          <p:cNvSpPr/>
          <p:nvPr/>
        </p:nvSpPr>
        <p:spPr>
          <a:xfrm>
            <a:off x="6355080" y="5056632"/>
            <a:ext cx="457200" cy="457200"/>
          </a:xfrm>
          <a:prstGeom prst="ellipse">
            <a:avLst/>
          </a:prstGeom>
          <a:solidFill>
            <a:srgbClr val="59A33A"/>
          </a:solidFill>
          <a:ln/>
        </p:spPr>
      </p:sp>
      <p:pic>
        <p:nvPicPr>
          <p:cNvPr id="32" name="Image 5" descr="/home/claude/theatre_deck/assets/icons/clock_white.png">    </p:cNvPr>
          <p:cNvPicPr>
            <a:picLocks noChangeAspect="1"/>
          </p:cNvPicPr>
          <p:nvPr/>
        </p:nvPicPr>
        <p:blipFill>
          <a:blip r:embed="rId6"/>
          <a:stretch>
            <a:fillRect/>
          </a:stretch>
        </p:blipFill>
        <p:spPr>
          <a:xfrm>
            <a:off x="6464808" y="5166360"/>
            <a:ext cx="237744" cy="237744"/>
          </a:xfrm>
          <a:prstGeom prst="rect">
            <a:avLst/>
          </a:prstGeom>
        </p:spPr>
      </p:pic>
      <p:sp>
        <p:nvSpPr>
          <p:cNvPr id="33" name="Text 25"/>
          <p:cNvSpPr/>
          <p:nvPr/>
        </p:nvSpPr>
        <p:spPr>
          <a:xfrm>
            <a:off x="6976872" y="5020056"/>
            <a:ext cx="4178808"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Time-consuming manual reporting</a:t>
            </a:r>
            <a:endParaRPr lang="en-US" sz="1300" dirty="0"/>
          </a:p>
        </p:txBody>
      </p:sp>
      <p:sp>
        <p:nvSpPr>
          <p:cNvPr id="34" name="Text 26"/>
          <p:cNvSpPr/>
          <p:nvPr/>
        </p:nvSpPr>
        <p:spPr>
          <a:xfrm>
            <a:off x="6976872" y="5294376"/>
            <a:ext cx="4178808" cy="566928"/>
          </a:xfrm>
          <a:prstGeom prst="rect">
            <a:avLst/>
          </a:prstGeom>
          <a:noFill/>
          <a:ln/>
        </p:spPr>
        <p:txBody>
          <a:bodyPr wrap="square" lIns="0" tIns="0" rIns="0" bIns="0" rtlCol="0" anchor="ctr"/>
          <a:lstStyle/>
          <a:p>
            <a:pPr indent="0" marL="0">
              <a:lnSpc>
                <a:spcPct val="105000"/>
              </a:lnSpc>
              <a:buNone/>
            </a:pPr>
            <a:r>
              <a:rPr lang="en-US" sz="1050" dirty="0">
                <a:solidFill>
                  <a:srgbClr val="C9CBCA"/>
                </a:solidFill>
                <a:latin typeface="Calibri" pitchFamily="34" charset="0"/>
                <a:ea typeface="Calibri" pitchFamily="34" charset="-122"/>
                <a:cs typeface="Calibri" pitchFamily="34" charset="-120"/>
              </a:rPr>
              <a:t>Hours spent compiling reports instead of acting on them.</a:t>
            </a:r>
            <a:endParaRPr lang="en-US" sz="1050" dirty="0"/>
          </a:p>
        </p:txBody>
      </p:sp>
      <p:sp>
        <p:nvSpPr>
          <p:cNvPr id="35" name="Text 27"/>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C9CBCA"/>
                </a:solidFill>
                <a:latin typeface="Calibri" pitchFamily="34" charset="0"/>
                <a:ea typeface="Calibri" pitchFamily="34" charset="-122"/>
                <a:cs typeface="Calibri" pitchFamily="34" charset="-120"/>
              </a:rPr>
              <a:t>CineMax Multiplex Pvt. Ltd.  |  Revenue &amp; Operations Analytics</a:t>
            </a:r>
            <a:endParaRPr lang="en-US" sz="900" dirty="0"/>
          </a:p>
        </p:txBody>
      </p:sp>
      <p:sp>
        <p:nvSpPr>
          <p:cNvPr id="36" name="Text 28"/>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C9CBC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4"/>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59A33A"/>
                </a:solidFill>
                <a:latin typeface="Calibri" pitchFamily="34" charset="0"/>
                <a:ea typeface="Calibri" pitchFamily="34" charset="-122"/>
                <a:cs typeface="Calibri" pitchFamily="34" charset="-120"/>
              </a:rPr>
              <a:t>WHY WE BUILT THIS</a:t>
            </a:r>
            <a:endParaRPr lang="en-US" sz="1200" dirty="0"/>
          </a:p>
        </p:txBody>
      </p:sp>
      <p:sp>
        <p:nvSpPr>
          <p:cNvPr id="3" name="Text 1"/>
          <p:cNvSpPr/>
          <p:nvPr/>
        </p:nvSpPr>
        <p:spPr>
          <a:xfrm>
            <a:off x="548640" y="658368"/>
            <a:ext cx="10607040" cy="658368"/>
          </a:xfrm>
          <a:prstGeom prst="rect">
            <a:avLst/>
          </a:prstGeom>
          <a:noFill/>
          <a:ln/>
        </p:spPr>
        <p:txBody>
          <a:bodyPr wrap="square" rtlCol="0" anchor="ctr"/>
          <a:lstStyle/>
          <a:p>
            <a:pPr indent="0" marL="0">
              <a:buNone/>
            </a:pPr>
            <a:r>
              <a:rPr lang="en-US" sz="3000" b="1" dirty="0">
                <a:solidFill>
                  <a:srgbClr val="2B2B2B"/>
                </a:solidFill>
                <a:latin typeface="Cambria" pitchFamily="34" charset="0"/>
                <a:ea typeface="Cambria" pitchFamily="34" charset="-122"/>
                <a:cs typeface="Cambria" pitchFamily="34" charset="-120"/>
              </a:rPr>
              <a:t>Project Objectives</a:t>
            </a:r>
            <a:endParaRPr lang="en-US" sz="3000" dirty="0"/>
          </a:p>
        </p:txBody>
      </p:sp>
      <p:sp>
        <p:nvSpPr>
          <p:cNvPr id="4" name="Text 2"/>
          <p:cNvSpPr/>
          <p:nvPr/>
        </p:nvSpPr>
        <p:spPr>
          <a:xfrm>
            <a:off x="548640" y="1371600"/>
            <a:ext cx="10515600" cy="365760"/>
          </a:xfrm>
          <a:prstGeom prst="rect">
            <a:avLst/>
          </a:prstGeom>
          <a:noFill/>
          <a:ln/>
        </p:spPr>
        <p:txBody>
          <a:bodyPr wrap="square" rtlCol="0" anchor="ctr"/>
          <a:lstStyle/>
          <a:p>
            <a:pPr indent="0" marL="0">
              <a:buNone/>
            </a:pPr>
            <a:r>
              <a:rPr lang="en-US" sz="1350" dirty="0">
                <a:solidFill>
                  <a:srgbClr val="7A7D7F"/>
                </a:solidFill>
                <a:latin typeface="Calibri" pitchFamily="34" charset="0"/>
                <a:ea typeface="Calibri" pitchFamily="34" charset="-122"/>
                <a:cs typeface="Calibri" pitchFamily="34" charset="-120"/>
              </a:rPr>
              <a:t>The dashboard was designed around six clear goals for the business.</a:t>
            </a:r>
            <a:endParaRPr lang="en-US" sz="1350" dirty="0"/>
          </a:p>
        </p:txBody>
      </p:sp>
      <p:sp>
        <p:nvSpPr>
          <p:cNvPr id="5" name="Shape 3"/>
          <p:cNvSpPr/>
          <p:nvPr/>
        </p:nvSpPr>
        <p:spPr>
          <a:xfrm>
            <a:off x="548640" y="1965960"/>
            <a:ext cx="3429000" cy="1737360"/>
          </a:xfrm>
          <a:prstGeom prst="roundRect">
            <a:avLst>
              <a:gd name="adj" fmla="val 4211"/>
            </a:avLst>
          </a:prstGeom>
          <a:solidFill>
            <a:srgbClr val="FFFFFF"/>
          </a:solidFill>
          <a:ln w="12700">
            <a:solidFill>
              <a:srgbClr val="E3E5E4"/>
            </a:solidFill>
            <a:prstDash val="solid"/>
          </a:ln>
          <a:effectLst>
            <a:outerShdw sx="100000" sy="100000" kx="0" ky="0" algn="bl" rotWithShape="0" blurRad="63500" dist="25400" dir="5400000">
              <a:srgbClr val="888888">
                <a:alpha val="20000"/>
              </a:srgbClr>
            </a:outerShdw>
          </a:effectLst>
        </p:spPr>
      </p:sp>
      <p:sp>
        <p:nvSpPr>
          <p:cNvPr id="6" name="Shape 4"/>
          <p:cNvSpPr/>
          <p:nvPr/>
        </p:nvSpPr>
        <p:spPr>
          <a:xfrm>
            <a:off x="804672" y="2221992"/>
            <a:ext cx="502920" cy="502920"/>
          </a:xfrm>
          <a:prstGeom prst="ellipse">
            <a:avLst/>
          </a:prstGeom>
          <a:solidFill>
            <a:srgbClr val="59A33A"/>
          </a:solidFill>
          <a:ln/>
        </p:spPr>
      </p:sp>
      <p:pic>
        <p:nvPicPr>
          <p:cNvPr id="7" name="Image 0" descr="/home/claude/theatre_deck/assets/icons/money_white.png">    </p:cNvPr>
          <p:cNvPicPr>
            <a:picLocks noChangeAspect="1"/>
          </p:cNvPicPr>
          <p:nvPr/>
        </p:nvPicPr>
        <p:blipFill>
          <a:blip r:embed="rId1"/>
          <a:stretch>
            <a:fillRect/>
          </a:stretch>
        </p:blipFill>
        <p:spPr>
          <a:xfrm>
            <a:off x="923544" y="2340864"/>
            <a:ext cx="265176" cy="265176"/>
          </a:xfrm>
          <a:prstGeom prst="rect">
            <a:avLst/>
          </a:prstGeom>
        </p:spPr>
      </p:pic>
      <p:sp>
        <p:nvSpPr>
          <p:cNvPr id="8" name="Text 5"/>
          <p:cNvSpPr/>
          <p:nvPr/>
        </p:nvSpPr>
        <p:spPr>
          <a:xfrm>
            <a:off x="777240" y="2834640"/>
            <a:ext cx="2971800" cy="365760"/>
          </a:xfrm>
          <a:prstGeom prst="rect">
            <a:avLst/>
          </a:prstGeom>
          <a:noFill/>
          <a:ln/>
        </p:spPr>
        <p:txBody>
          <a:bodyPr wrap="square" lIns="0" tIns="0" rIns="0" bIns="0" rtlCol="0" anchor="ctr"/>
          <a:lstStyle/>
          <a:p>
            <a:pPr indent="0" marL="0">
              <a:buNone/>
            </a:pPr>
            <a:r>
              <a:rPr lang="en-US" sz="1350" b="1" dirty="0">
                <a:solidFill>
                  <a:srgbClr val="2B2B2B"/>
                </a:solidFill>
                <a:latin typeface="Calibri" pitchFamily="34" charset="0"/>
                <a:ea typeface="Calibri" pitchFamily="34" charset="-122"/>
                <a:cs typeface="Calibri" pitchFamily="34" charset="-120"/>
              </a:rPr>
              <a:t>Monitor total revenue</a:t>
            </a:r>
            <a:endParaRPr lang="en-US" sz="1350" dirty="0"/>
          </a:p>
        </p:txBody>
      </p:sp>
      <p:sp>
        <p:nvSpPr>
          <p:cNvPr id="9" name="Text 6"/>
          <p:cNvSpPr/>
          <p:nvPr/>
        </p:nvSpPr>
        <p:spPr>
          <a:xfrm>
            <a:off x="777240" y="3172968"/>
            <a:ext cx="2971800" cy="457200"/>
          </a:xfrm>
          <a:prstGeom prst="rect">
            <a:avLst/>
          </a:prstGeom>
          <a:noFill/>
          <a:ln/>
        </p:spPr>
        <p:txBody>
          <a:bodyPr wrap="square" lIns="0" tIns="0" rIns="0" bIns="0" rtlCol="0" anchor="ctr"/>
          <a:lstStyle/>
          <a:p>
            <a:pPr indent="0" marL="0">
              <a:lnSpc>
                <a:spcPct val="105000"/>
              </a:lnSpc>
              <a:buNone/>
            </a:pPr>
            <a:r>
              <a:rPr lang="en-US" sz="1050" dirty="0">
                <a:solidFill>
                  <a:srgbClr val="7A7D7F"/>
                </a:solidFill>
                <a:latin typeface="Calibri" pitchFamily="34" charset="0"/>
                <a:ea typeface="Calibri" pitchFamily="34" charset="-122"/>
                <a:cs typeface="Calibri" pitchFamily="34" charset="-120"/>
              </a:rPr>
              <a:t>Real-time visibility into ticket, food, and tax revenue.</a:t>
            </a:r>
            <a:endParaRPr lang="en-US" sz="1050" dirty="0"/>
          </a:p>
        </p:txBody>
      </p:sp>
      <p:sp>
        <p:nvSpPr>
          <p:cNvPr id="10" name="Shape 7"/>
          <p:cNvSpPr/>
          <p:nvPr/>
        </p:nvSpPr>
        <p:spPr>
          <a:xfrm>
            <a:off x="4251960" y="1965960"/>
            <a:ext cx="3429000" cy="1737360"/>
          </a:xfrm>
          <a:prstGeom prst="roundRect">
            <a:avLst>
              <a:gd name="adj" fmla="val 4211"/>
            </a:avLst>
          </a:prstGeom>
          <a:solidFill>
            <a:srgbClr val="FFFFFF"/>
          </a:solidFill>
          <a:ln w="12700">
            <a:solidFill>
              <a:srgbClr val="E3E5E4"/>
            </a:solidFill>
            <a:prstDash val="solid"/>
          </a:ln>
          <a:effectLst>
            <a:outerShdw sx="100000" sy="100000" kx="0" ky="0" algn="bl" rotWithShape="0" blurRad="63500" dist="25400" dir="5400000">
              <a:srgbClr val="888888">
                <a:alpha val="20000"/>
              </a:srgbClr>
            </a:outerShdw>
          </a:effectLst>
        </p:spPr>
      </p:sp>
      <p:sp>
        <p:nvSpPr>
          <p:cNvPr id="11" name="Shape 8"/>
          <p:cNvSpPr/>
          <p:nvPr/>
        </p:nvSpPr>
        <p:spPr>
          <a:xfrm>
            <a:off x="4507992" y="2221992"/>
            <a:ext cx="502920" cy="502920"/>
          </a:xfrm>
          <a:prstGeom prst="ellipse">
            <a:avLst/>
          </a:prstGeom>
          <a:solidFill>
            <a:srgbClr val="59A33A"/>
          </a:solidFill>
          <a:ln/>
        </p:spPr>
      </p:sp>
      <p:pic>
        <p:nvPicPr>
          <p:cNvPr id="12" name="Image 1" descr="/home/claude/theatre_deck/assets/icons/users_white.png">    </p:cNvPr>
          <p:cNvPicPr>
            <a:picLocks noChangeAspect="1"/>
          </p:cNvPicPr>
          <p:nvPr/>
        </p:nvPicPr>
        <p:blipFill>
          <a:blip r:embed="rId2"/>
          <a:stretch>
            <a:fillRect/>
          </a:stretch>
        </p:blipFill>
        <p:spPr>
          <a:xfrm>
            <a:off x="4626864" y="2340864"/>
            <a:ext cx="265176" cy="265176"/>
          </a:xfrm>
          <a:prstGeom prst="rect">
            <a:avLst/>
          </a:prstGeom>
        </p:spPr>
      </p:pic>
      <p:sp>
        <p:nvSpPr>
          <p:cNvPr id="13" name="Text 9"/>
          <p:cNvSpPr/>
          <p:nvPr/>
        </p:nvSpPr>
        <p:spPr>
          <a:xfrm>
            <a:off x="4480560" y="2834640"/>
            <a:ext cx="2971800" cy="365760"/>
          </a:xfrm>
          <a:prstGeom prst="rect">
            <a:avLst/>
          </a:prstGeom>
          <a:noFill/>
          <a:ln/>
        </p:spPr>
        <p:txBody>
          <a:bodyPr wrap="square" lIns="0" tIns="0" rIns="0" bIns="0" rtlCol="0" anchor="ctr"/>
          <a:lstStyle/>
          <a:p>
            <a:pPr indent="0" marL="0">
              <a:buNone/>
            </a:pPr>
            <a:r>
              <a:rPr lang="en-US" sz="1350" b="1" dirty="0">
                <a:solidFill>
                  <a:srgbClr val="2B2B2B"/>
                </a:solidFill>
                <a:latin typeface="Calibri" pitchFamily="34" charset="0"/>
                <a:ea typeface="Calibri" pitchFamily="34" charset="-122"/>
                <a:cs typeface="Calibri" pitchFamily="34" charset="-120"/>
              </a:rPr>
              <a:t>Track theatre occupancy</a:t>
            </a:r>
            <a:endParaRPr lang="en-US" sz="1350" dirty="0"/>
          </a:p>
        </p:txBody>
      </p:sp>
      <p:sp>
        <p:nvSpPr>
          <p:cNvPr id="14" name="Text 10"/>
          <p:cNvSpPr/>
          <p:nvPr/>
        </p:nvSpPr>
        <p:spPr>
          <a:xfrm>
            <a:off x="4480560" y="3172968"/>
            <a:ext cx="2971800" cy="457200"/>
          </a:xfrm>
          <a:prstGeom prst="rect">
            <a:avLst/>
          </a:prstGeom>
          <a:noFill/>
          <a:ln/>
        </p:spPr>
        <p:txBody>
          <a:bodyPr wrap="square" lIns="0" tIns="0" rIns="0" bIns="0" rtlCol="0" anchor="ctr"/>
          <a:lstStyle/>
          <a:p>
            <a:pPr indent="0" marL="0">
              <a:lnSpc>
                <a:spcPct val="105000"/>
              </a:lnSpc>
              <a:buNone/>
            </a:pPr>
            <a:r>
              <a:rPr lang="en-US" sz="1050" dirty="0">
                <a:solidFill>
                  <a:srgbClr val="7A7D7F"/>
                </a:solidFill>
                <a:latin typeface="Calibri" pitchFamily="34" charset="0"/>
                <a:ea typeface="Calibri" pitchFamily="34" charset="-122"/>
                <a:cs typeface="Calibri" pitchFamily="34" charset="-120"/>
              </a:rPr>
              <a:t>Understand seat utilization across every location.</a:t>
            </a:r>
            <a:endParaRPr lang="en-US" sz="1050" dirty="0"/>
          </a:p>
        </p:txBody>
      </p:sp>
      <p:sp>
        <p:nvSpPr>
          <p:cNvPr id="15" name="Shape 11"/>
          <p:cNvSpPr/>
          <p:nvPr/>
        </p:nvSpPr>
        <p:spPr>
          <a:xfrm>
            <a:off x="7955280" y="1965960"/>
            <a:ext cx="3429000" cy="1737360"/>
          </a:xfrm>
          <a:prstGeom prst="roundRect">
            <a:avLst>
              <a:gd name="adj" fmla="val 4211"/>
            </a:avLst>
          </a:prstGeom>
          <a:solidFill>
            <a:srgbClr val="FFFFFF"/>
          </a:solidFill>
          <a:ln w="12700">
            <a:solidFill>
              <a:srgbClr val="E3E5E4"/>
            </a:solidFill>
            <a:prstDash val="solid"/>
          </a:ln>
          <a:effectLst>
            <a:outerShdw sx="100000" sy="100000" kx="0" ky="0" algn="bl" rotWithShape="0" blurRad="63500" dist="25400" dir="5400000">
              <a:srgbClr val="888888">
                <a:alpha val="20000"/>
              </a:srgbClr>
            </a:outerShdw>
          </a:effectLst>
        </p:spPr>
      </p:sp>
      <p:sp>
        <p:nvSpPr>
          <p:cNvPr id="16" name="Shape 12"/>
          <p:cNvSpPr/>
          <p:nvPr/>
        </p:nvSpPr>
        <p:spPr>
          <a:xfrm>
            <a:off x="8211312" y="2221992"/>
            <a:ext cx="502920" cy="502920"/>
          </a:xfrm>
          <a:prstGeom prst="ellipse">
            <a:avLst/>
          </a:prstGeom>
          <a:solidFill>
            <a:srgbClr val="59A33A"/>
          </a:solidFill>
          <a:ln/>
        </p:spPr>
      </p:sp>
      <p:pic>
        <p:nvPicPr>
          <p:cNvPr id="17" name="Image 2" descr="/home/claude/theatre_deck/assets/icons/film_white.png">    </p:cNvPr>
          <p:cNvPicPr>
            <a:picLocks noChangeAspect="1"/>
          </p:cNvPicPr>
          <p:nvPr/>
        </p:nvPicPr>
        <p:blipFill>
          <a:blip r:embed="rId3"/>
          <a:stretch>
            <a:fillRect/>
          </a:stretch>
        </p:blipFill>
        <p:spPr>
          <a:xfrm>
            <a:off x="8330184" y="2340864"/>
            <a:ext cx="265176" cy="265176"/>
          </a:xfrm>
          <a:prstGeom prst="rect">
            <a:avLst/>
          </a:prstGeom>
        </p:spPr>
      </p:pic>
      <p:sp>
        <p:nvSpPr>
          <p:cNvPr id="18" name="Text 13"/>
          <p:cNvSpPr/>
          <p:nvPr/>
        </p:nvSpPr>
        <p:spPr>
          <a:xfrm>
            <a:off x="8183880" y="2834640"/>
            <a:ext cx="2971800" cy="365760"/>
          </a:xfrm>
          <a:prstGeom prst="rect">
            <a:avLst/>
          </a:prstGeom>
          <a:noFill/>
          <a:ln/>
        </p:spPr>
        <p:txBody>
          <a:bodyPr wrap="square" lIns="0" tIns="0" rIns="0" bIns="0" rtlCol="0" anchor="ctr"/>
          <a:lstStyle/>
          <a:p>
            <a:pPr indent="0" marL="0">
              <a:buNone/>
            </a:pPr>
            <a:r>
              <a:rPr lang="en-US" sz="1350" b="1" dirty="0">
                <a:solidFill>
                  <a:srgbClr val="2B2B2B"/>
                </a:solidFill>
                <a:latin typeface="Calibri" pitchFamily="34" charset="0"/>
                <a:ea typeface="Calibri" pitchFamily="34" charset="-122"/>
                <a:cs typeface="Calibri" pitchFamily="34" charset="-120"/>
              </a:rPr>
              <a:t>Analyze movie genres</a:t>
            </a:r>
            <a:endParaRPr lang="en-US" sz="1350" dirty="0"/>
          </a:p>
        </p:txBody>
      </p:sp>
      <p:sp>
        <p:nvSpPr>
          <p:cNvPr id="19" name="Text 14"/>
          <p:cNvSpPr/>
          <p:nvPr/>
        </p:nvSpPr>
        <p:spPr>
          <a:xfrm>
            <a:off x="8183880" y="3172968"/>
            <a:ext cx="2971800" cy="457200"/>
          </a:xfrm>
          <a:prstGeom prst="rect">
            <a:avLst/>
          </a:prstGeom>
          <a:noFill/>
          <a:ln/>
        </p:spPr>
        <p:txBody>
          <a:bodyPr wrap="square" lIns="0" tIns="0" rIns="0" bIns="0" rtlCol="0" anchor="ctr"/>
          <a:lstStyle/>
          <a:p>
            <a:pPr indent="0" marL="0">
              <a:lnSpc>
                <a:spcPct val="105000"/>
              </a:lnSpc>
              <a:buNone/>
            </a:pPr>
            <a:r>
              <a:rPr lang="en-US" sz="1050" dirty="0">
                <a:solidFill>
                  <a:srgbClr val="7A7D7F"/>
                </a:solidFill>
                <a:latin typeface="Calibri" pitchFamily="34" charset="0"/>
                <a:ea typeface="Calibri" pitchFamily="34" charset="-122"/>
                <a:cs typeface="Calibri" pitchFamily="34" charset="-120"/>
              </a:rPr>
              <a:t>See which genres drive the most business.</a:t>
            </a:r>
            <a:endParaRPr lang="en-US" sz="1050" dirty="0"/>
          </a:p>
        </p:txBody>
      </p:sp>
      <p:sp>
        <p:nvSpPr>
          <p:cNvPr id="20" name="Shape 15"/>
          <p:cNvSpPr/>
          <p:nvPr/>
        </p:nvSpPr>
        <p:spPr>
          <a:xfrm>
            <a:off x="548640" y="3931920"/>
            <a:ext cx="3429000" cy="1737360"/>
          </a:xfrm>
          <a:prstGeom prst="roundRect">
            <a:avLst>
              <a:gd name="adj" fmla="val 4211"/>
            </a:avLst>
          </a:prstGeom>
          <a:solidFill>
            <a:srgbClr val="FFFFFF"/>
          </a:solidFill>
          <a:ln w="12700">
            <a:solidFill>
              <a:srgbClr val="E3E5E4"/>
            </a:solidFill>
            <a:prstDash val="solid"/>
          </a:ln>
          <a:effectLst>
            <a:outerShdw sx="100000" sy="100000" kx="0" ky="0" algn="bl" rotWithShape="0" blurRad="63500" dist="25400" dir="5400000">
              <a:srgbClr val="888888">
                <a:alpha val="20000"/>
              </a:srgbClr>
            </a:outerShdw>
          </a:effectLst>
        </p:spPr>
      </p:sp>
      <p:sp>
        <p:nvSpPr>
          <p:cNvPr id="21" name="Shape 16"/>
          <p:cNvSpPr/>
          <p:nvPr/>
        </p:nvSpPr>
        <p:spPr>
          <a:xfrm>
            <a:off x="804672" y="4187952"/>
            <a:ext cx="502920" cy="502920"/>
          </a:xfrm>
          <a:prstGeom prst="ellipse">
            <a:avLst/>
          </a:prstGeom>
          <a:solidFill>
            <a:srgbClr val="59A33A"/>
          </a:solidFill>
          <a:ln/>
        </p:spPr>
      </p:sp>
      <p:pic>
        <p:nvPicPr>
          <p:cNvPr id="22" name="Image 3" descr="/home/claude/theatre_deck/assets/icons/food_white.png">    </p:cNvPr>
          <p:cNvPicPr>
            <a:picLocks noChangeAspect="1"/>
          </p:cNvPicPr>
          <p:nvPr/>
        </p:nvPicPr>
        <p:blipFill>
          <a:blip r:embed="rId4"/>
          <a:stretch>
            <a:fillRect/>
          </a:stretch>
        </p:blipFill>
        <p:spPr>
          <a:xfrm>
            <a:off x="923544" y="4306824"/>
            <a:ext cx="265176" cy="265176"/>
          </a:xfrm>
          <a:prstGeom prst="rect">
            <a:avLst/>
          </a:prstGeom>
        </p:spPr>
      </p:pic>
      <p:sp>
        <p:nvSpPr>
          <p:cNvPr id="23" name="Text 17"/>
          <p:cNvSpPr/>
          <p:nvPr/>
        </p:nvSpPr>
        <p:spPr>
          <a:xfrm>
            <a:off x="777240" y="4800600"/>
            <a:ext cx="2971800" cy="365760"/>
          </a:xfrm>
          <a:prstGeom prst="rect">
            <a:avLst/>
          </a:prstGeom>
          <a:noFill/>
          <a:ln/>
        </p:spPr>
        <p:txBody>
          <a:bodyPr wrap="square" lIns="0" tIns="0" rIns="0" bIns="0" rtlCol="0" anchor="ctr"/>
          <a:lstStyle/>
          <a:p>
            <a:pPr indent="0" marL="0">
              <a:buNone/>
            </a:pPr>
            <a:r>
              <a:rPr lang="en-US" sz="1350" b="1" dirty="0">
                <a:solidFill>
                  <a:srgbClr val="2B2B2B"/>
                </a:solidFill>
                <a:latin typeface="Calibri" pitchFamily="34" charset="0"/>
                <a:ea typeface="Calibri" pitchFamily="34" charset="-122"/>
                <a:cs typeface="Calibri" pitchFamily="34" charset="-120"/>
              </a:rPr>
              <a:t>Measure food revenue</a:t>
            </a:r>
            <a:endParaRPr lang="en-US" sz="1350" dirty="0"/>
          </a:p>
        </p:txBody>
      </p:sp>
      <p:sp>
        <p:nvSpPr>
          <p:cNvPr id="24" name="Text 18"/>
          <p:cNvSpPr/>
          <p:nvPr/>
        </p:nvSpPr>
        <p:spPr>
          <a:xfrm>
            <a:off x="777240" y="5138928"/>
            <a:ext cx="2971800" cy="457200"/>
          </a:xfrm>
          <a:prstGeom prst="rect">
            <a:avLst/>
          </a:prstGeom>
          <a:noFill/>
          <a:ln/>
        </p:spPr>
        <p:txBody>
          <a:bodyPr wrap="square" lIns="0" tIns="0" rIns="0" bIns="0" rtlCol="0" anchor="ctr"/>
          <a:lstStyle/>
          <a:p>
            <a:pPr indent="0" marL="0">
              <a:lnSpc>
                <a:spcPct val="105000"/>
              </a:lnSpc>
              <a:buNone/>
            </a:pPr>
            <a:r>
              <a:rPr lang="en-US" sz="1050" dirty="0">
                <a:solidFill>
                  <a:srgbClr val="7A7D7F"/>
                </a:solidFill>
                <a:latin typeface="Calibri" pitchFamily="34" charset="0"/>
                <a:ea typeface="Calibri" pitchFamily="34" charset="-122"/>
                <a:cs typeface="Calibri" pitchFamily="34" charset="-120"/>
              </a:rPr>
              <a:t>Quantify the contribution of concessions sales.</a:t>
            </a:r>
            <a:endParaRPr lang="en-US" sz="1050" dirty="0"/>
          </a:p>
        </p:txBody>
      </p:sp>
      <p:sp>
        <p:nvSpPr>
          <p:cNvPr id="25" name="Shape 19"/>
          <p:cNvSpPr/>
          <p:nvPr/>
        </p:nvSpPr>
        <p:spPr>
          <a:xfrm>
            <a:off x="4251960" y="3931920"/>
            <a:ext cx="3429000" cy="1737360"/>
          </a:xfrm>
          <a:prstGeom prst="roundRect">
            <a:avLst>
              <a:gd name="adj" fmla="val 4211"/>
            </a:avLst>
          </a:prstGeom>
          <a:solidFill>
            <a:srgbClr val="FFFFFF"/>
          </a:solidFill>
          <a:ln w="12700">
            <a:solidFill>
              <a:srgbClr val="E3E5E4"/>
            </a:solidFill>
            <a:prstDash val="solid"/>
          </a:ln>
          <a:effectLst>
            <a:outerShdw sx="100000" sy="100000" kx="0" ky="0" algn="bl" rotWithShape="0" blurRad="63500" dist="25400" dir="5400000">
              <a:srgbClr val="888888">
                <a:alpha val="20000"/>
              </a:srgbClr>
            </a:outerShdw>
          </a:effectLst>
        </p:spPr>
      </p:sp>
      <p:sp>
        <p:nvSpPr>
          <p:cNvPr id="26" name="Shape 20"/>
          <p:cNvSpPr/>
          <p:nvPr/>
        </p:nvSpPr>
        <p:spPr>
          <a:xfrm>
            <a:off x="4507992" y="4187952"/>
            <a:ext cx="502920" cy="502920"/>
          </a:xfrm>
          <a:prstGeom prst="ellipse">
            <a:avLst/>
          </a:prstGeom>
          <a:solidFill>
            <a:srgbClr val="59A33A"/>
          </a:solidFill>
          <a:ln/>
        </p:spPr>
      </p:sp>
      <p:pic>
        <p:nvPicPr>
          <p:cNvPr id="27" name="Image 4" descr="/home/claude/theatre_deck/assets/icons/bar_white.png">    </p:cNvPr>
          <p:cNvPicPr>
            <a:picLocks noChangeAspect="1"/>
          </p:cNvPicPr>
          <p:nvPr/>
        </p:nvPicPr>
        <p:blipFill>
          <a:blip r:embed="rId5"/>
          <a:stretch>
            <a:fillRect/>
          </a:stretch>
        </p:blipFill>
        <p:spPr>
          <a:xfrm>
            <a:off x="4626864" y="4306824"/>
            <a:ext cx="265176" cy="265176"/>
          </a:xfrm>
          <a:prstGeom prst="rect">
            <a:avLst/>
          </a:prstGeom>
        </p:spPr>
      </p:pic>
      <p:sp>
        <p:nvSpPr>
          <p:cNvPr id="28" name="Text 21"/>
          <p:cNvSpPr/>
          <p:nvPr/>
        </p:nvSpPr>
        <p:spPr>
          <a:xfrm>
            <a:off x="4480560" y="4800600"/>
            <a:ext cx="2971800" cy="365760"/>
          </a:xfrm>
          <a:prstGeom prst="rect">
            <a:avLst/>
          </a:prstGeom>
          <a:noFill/>
          <a:ln/>
        </p:spPr>
        <p:txBody>
          <a:bodyPr wrap="square" lIns="0" tIns="0" rIns="0" bIns="0" rtlCol="0" anchor="ctr"/>
          <a:lstStyle/>
          <a:p>
            <a:pPr indent="0" marL="0">
              <a:buNone/>
            </a:pPr>
            <a:r>
              <a:rPr lang="en-US" sz="1350" b="1" dirty="0">
                <a:solidFill>
                  <a:srgbClr val="2B2B2B"/>
                </a:solidFill>
                <a:latin typeface="Calibri" pitchFamily="34" charset="0"/>
                <a:ea typeface="Calibri" pitchFamily="34" charset="-122"/>
                <a:cs typeface="Calibri" pitchFamily="34" charset="-120"/>
              </a:rPr>
              <a:t>Compare theatre performance</a:t>
            </a:r>
            <a:endParaRPr lang="en-US" sz="1350" dirty="0"/>
          </a:p>
        </p:txBody>
      </p:sp>
      <p:sp>
        <p:nvSpPr>
          <p:cNvPr id="29" name="Text 22"/>
          <p:cNvSpPr/>
          <p:nvPr/>
        </p:nvSpPr>
        <p:spPr>
          <a:xfrm>
            <a:off x="4480560" y="5138928"/>
            <a:ext cx="2971800" cy="457200"/>
          </a:xfrm>
          <a:prstGeom prst="rect">
            <a:avLst/>
          </a:prstGeom>
          <a:noFill/>
          <a:ln/>
        </p:spPr>
        <p:txBody>
          <a:bodyPr wrap="square" lIns="0" tIns="0" rIns="0" bIns="0" rtlCol="0" anchor="ctr"/>
          <a:lstStyle/>
          <a:p>
            <a:pPr indent="0" marL="0">
              <a:lnSpc>
                <a:spcPct val="105000"/>
              </a:lnSpc>
              <a:buNone/>
            </a:pPr>
            <a:r>
              <a:rPr lang="en-US" sz="1050" dirty="0">
                <a:solidFill>
                  <a:srgbClr val="7A7D7F"/>
                </a:solidFill>
                <a:latin typeface="Calibri" pitchFamily="34" charset="0"/>
                <a:ea typeface="Calibri" pitchFamily="34" charset="-122"/>
                <a:cs typeface="Calibri" pitchFamily="34" charset="-120"/>
              </a:rPr>
              <a:t>Benchmark theatres against one another.</a:t>
            </a:r>
            <a:endParaRPr lang="en-US" sz="1050" dirty="0"/>
          </a:p>
        </p:txBody>
      </p:sp>
      <p:sp>
        <p:nvSpPr>
          <p:cNvPr id="30" name="Shape 23"/>
          <p:cNvSpPr/>
          <p:nvPr/>
        </p:nvSpPr>
        <p:spPr>
          <a:xfrm>
            <a:off x="7955280" y="3931920"/>
            <a:ext cx="3429000" cy="1737360"/>
          </a:xfrm>
          <a:prstGeom prst="roundRect">
            <a:avLst>
              <a:gd name="adj" fmla="val 4211"/>
            </a:avLst>
          </a:prstGeom>
          <a:solidFill>
            <a:srgbClr val="FFFFFF"/>
          </a:solidFill>
          <a:ln w="12700">
            <a:solidFill>
              <a:srgbClr val="E3E5E4"/>
            </a:solidFill>
            <a:prstDash val="solid"/>
          </a:ln>
          <a:effectLst>
            <a:outerShdw sx="100000" sy="100000" kx="0" ky="0" algn="bl" rotWithShape="0" blurRad="63500" dist="25400" dir="5400000">
              <a:srgbClr val="888888">
                <a:alpha val="20000"/>
              </a:srgbClr>
            </a:outerShdw>
          </a:effectLst>
        </p:spPr>
      </p:sp>
      <p:sp>
        <p:nvSpPr>
          <p:cNvPr id="31" name="Shape 24"/>
          <p:cNvSpPr/>
          <p:nvPr/>
        </p:nvSpPr>
        <p:spPr>
          <a:xfrm>
            <a:off x="8211312" y="4187952"/>
            <a:ext cx="502920" cy="502920"/>
          </a:xfrm>
          <a:prstGeom prst="ellipse">
            <a:avLst/>
          </a:prstGeom>
          <a:solidFill>
            <a:srgbClr val="59A33A"/>
          </a:solidFill>
          <a:ln/>
        </p:spPr>
      </p:sp>
      <p:pic>
        <p:nvPicPr>
          <p:cNvPr id="32" name="Image 5" descr="/home/claude/theatre_deck/assets/icons/bulb_white.png">    </p:cNvPr>
          <p:cNvPicPr>
            <a:picLocks noChangeAspect="1"/>
          </p:cNvPicPr>
          <p:nvPr/>
        </p:nvPicPr>
        <p:blipFill>
          <a:blip r:embed="rId6"/>
          <a:stretch>
            <a:fillRect/>
          </a:stretch>
        </p:blipFill>
        <p:spPr>
          <a:xfrm>
            <a:off x="8330184" y="4306824"/>
            <a:ext cx="265176" cy="265176"/>
          </a:xfrm>
          <a:prstGeom prst="rect">
            <a:avLst/>
          </a:prstGeom>
        </p:spPr>
      </p:pic>
      <p:sp>
        <p:nvSpPr>
          <p:cNvPr id="33" name="Text 25"/>
          <p:cNvSpPr/>
          <p:nvPr/>
        </p:nvSpPr>
        <p:spPr>
          <a:xfrm>
            <a:off x="8183880" y="4800600"/>
            <a:ext cx="2971800" cy="365760"/>
          </a:xfrm>
          <a:prstGeom prst="rect">
            <a:avLst/>
          </a:prstGeom>
          <a:noFill/>
          <a:ln/>
        </p:spPr>
        <p:txBody>
          <a:bodyPr wrap="square" lIns="0" tIns="0" rIns="0" bIns="0" rtlCol="0" anchor="ctr"/>
          <a:lstStyle/>
          <a:p>
            <a:pPr indent="0" marL="0">
              <a:buNone/>
            </a:pPr>
            <a:r>
              <a:rPr lang="en-US" sz="1350" b="1" dirty="0">
                <a:solidFill>
                  <a:srgbClr val="2B2B2B"/>
                </a:solidFill>
                <a:latin typeface="Calibri" pitchFamily="34" charset="0"/>
                <a:ea typeface="Calibri" pitchFamily="34" charset="-122"/>
                <a:cs typeface="Calibri" pitchFamily="34" charset="-120"/>
              </a:rPr>
              <a:t>Support data-driven decisions</a:t>
            </a:r>
            <a:endParaRPr lang="en-US" sz="1350" dirty="0"/>
          </a:p>
        </p:txBody>
      </p:sp>
      <p:sp>
        <p:nvSpPr>
          <p:cNvPr id="34" name="Text 26"/>
          <p:cNvSpPr/>
          <p:nvPr/>
        </p:nvSpPr>
        <p:spPr>
          <a:xfrm>
            <a:off x="8183880" y="5138928"/>
            <a:ext cx="2971800" cy="457200"/>
          </a:xfrm>
          <a:prstGeom prst="rect">
            <a:avLst/>
          </a:prstGeom>
          <a:noFill/>
          <a:ln/>
        </p:spPr>
        <p:txBody>
          <a:bodyPr wrap="square" lIns="0" tIns="0" rIns="0" bIns="0" rtlCol="0" anchor="ctr"/>
          <a:lstStyle/>
          <a:p>
            <a:pPr indent="0" marL="0">
              <a:lnSpc>
                <a:spcPct val="105000"/>
              </a:lnSpc>
              <a:buNone/>
            </a:pPr>
            <a:r>
              <a:rPr lang="en-US" sz="1050" dirty="0">
                <a:solidFill>
                  <a:srgbClr val="7A7D7F"/>
                </a:solidFill>
                <a:latin typeface="Calibri" pitchFamily="34" charset="0"/>
                <a:ea typeface="Calibri" pitchFamily="34" charset="-122"/>
                <a:cs typeface="Calibri" pitchFamily="34" charset="-120"/>
              </a:rPr>
              <a:t>Give leadership one trusted source for decisions.</a:t>
            </a:r>
            <a:endParaRPr lang="en-US" sz="1050" dirty="0"/>
          </a:p>
        </p:txBody>
      </p:sp>
      <p:sp>
        <p:nvSpPr>
          <p:cNvPr id="35" name="Text 27"/>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7A7D7F"/>
                </a:solidFill>
                <a:latin typeface="Calibri" pitchFamily="34" charset="0"/>
                <a:ea typeface="Calibri" pitchFamily="34" charset="-122"/>
                <a:cs typeface="Calibri" pitchFamily="34" charset="-120"/>
              </a:rPr>
              <a:t>CineMax Multiplex Pvt. Ltd.  |  Revenue &amp; Operations Analytics</a:t>
            </a:r>
            <a:endParaRPr lang="en-US" sz="900" dirty="0"/>
          </a:p>
        </p:txBody>
      </p:sp>
      <p:sp>
        <p:nvSpPr>
          <p:cNvPr id="36" name="Text 28"/>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A7D7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4"/>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59A33A"/>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548640" y="658368"/>
            <a:ext cx="10607040" cy="658368"/>
          </a:xfrm>
          <a:prstGeom prst="rect">
            <a:avLst/>
          </a:prstGeom>
          <a:noFill/>
          <a:ln/>
        </p:spPr>
        <p:txBody>
          <a:bodyPr wrap="square" rtlCol="0" anchor="ctr"/>
          <a:lstStyle/>
          <a:p>
            <a:pPr indent="0" marL="0">
              <a:buNone/>
            </a:pPr>
            <a:r>
              <a:rPr lang="en-US" sz="3000" b="1" dirty="0">
                <a:solidFill>
                  <a:srgbClr val="2B2B2B"/>
                </a:solidFill>
                <a:latin typeface="Cambria" pitchFamily="34" charset="0"/>
                <a:ea typeface="Cambria" pitchFamily="34" charset="-122"/>
                <a:cs typeface="Cambria" pitchFamily="34" charset="-120"/>
              </a:rPr>
              <a:t>Dashboard Overview</a:t>
            </a:r>
            <a:endParaRPr lang="en-US" sz="3000" dirty="0"/>
          </a:p>
        </p:txBody>
      </p:sp>
      <p:sp>
        <p:nvSpPr>
          <p:cNvPr id="4" name="Shape 2"/>
          <p:cNvSpPr/>
          <p:nvPr/>
        </p:nvSpPr>
        <p:spPr>
          <a:xfrm>
            <a:off x="548640" y="1371600"/>
            <a:ext cx="2633472" cy="1051560"/>
          </a:xfrm>
          <a:prstGeom prst="roundRect">
            <a:avLst>
              <a:gd name="adj" fmla="val 6957"/>
            </a:avLst>
          </a:prstGeom>
          <a:solidFill>
            <a:srgbClr val="FFFFFF"/>
          </a:solidFill>
          <a:ln w="12700">
            <a:solidFill>
              <a:srgbClr val="E3E5E4"/>
            </a:solidFill>
            <a:prstDash val="solid"/>
          </a:ln>
          <a:effectLst>
            <a:outerShdw sx="100000" sy="100000" kx="0" ky="0" algn="bl" rotWithShape="0" blurRad="76200" dist="25400" dir="5400000">
              <a:srgbClr val="888888">
                <a:alpha val="25000"/>
              </a:srgbClr>
            </a:outerShdw>
          </a:effectLst>
        </p:spPr>
      </p:sp>
      <p:sp>
        <p:nvSpPr>
          <p:cNvPr id="5" name="Shape 3"/>
          <p:cNvSpPr/>
          <p:nvPr/>
        </p:nvSpPr>
        <p:spPr>
          <a:xfrm>
            <a:off x="749808" y="1554480"/>
            <a:ext cx="420624" cy="420624"/>
          </a:xfrm>
          <a:prstGeom prst="ellipse">
            <a:avLst/>
          </a:prstGeom>
          <a:solidFill>
            <a:srgbClr val="59A33A"/>
          </a:solidFill>
          <a:ln/>
        </p:spPr>
      </p:sp>
      <p:pic>
        <p:nvPicPr>
          <p:cNvPr id="6" name="Image 0" descr="/home/claude/theatre_deck/assets/icons/money_white.png">    </p:cNvPr>
          <p:cNvPicPr>
            <a:picLocks noChangeAspect="1"/>
          </p:cNvPicPr>
          <p:nvPr/>
        </p:nvPicPr>
        <p:blipFill>
          <a:blip r:embed="rId1"/>
          <a:stretch>
            <a:fillRect/>
          </a:stretch>
        </p:blipFill>
        <p:spPr>
          <a:xfrm>
            <a:off x="841248" y="1645920"/>
            <a:ext cx="237744" cy="237744"/>
          </a:xfrm>
          <a:prstGeom prst="rect">
            <a:avLst/>
          </a:prstGeom>
        </p:spPr>
      </p:pic>
      <p:sp>
        <p:nvSpPr>
          <p:cNvPr id="7" name="Text 4"/>
          <p:cNvSpPr/>
          <p:nvPr/>
        </p:nvSpPr>
        <p:spPr>
          <a:xfrm>
            <a:off x="1280160" y="1517904"/>
            <a:ext cx="1719072" cy="274320"/>
          </a:xfrm>
          <a:prstGeom prst="rect">
            <a:avLst/>
          </a:prstGeom>
          <a:noFill/>
          <a:ln/>
        </p:spPr>
        <p:txBody>
          <a:bodyPr wrap="square" lIns="0" tIns="0" rIns="0" bIns="0" rtlCol="0" anchor="ctr"/>
          <a:lstStyle/>
          <a:p>
            <a:pPr indent="0" marL="0">
              <a:buNone/>
            </a:pPr>
            <a:r>
              <a:rPr lang="en-US" sz="1200" b="1" dirty="0">
                <a:solidFill>
                  <a:srgbClr val="7A7D7F"/>
                </a:solidFill>
                <a:latin typeface="Calibri" pitchFamily="34" charset="0"/>
                <a:ea typeface="Calibri" pitchFamily="34" charset="-122"/>
                <a:cs typeface="Calibri" pitchFamily="34" charset="-120"/>
              </a:rPr>
              <a:t>Total Revenue</a:t>
            </a:r>
            <a:endParaRPr lang="en-US" sz="1200" dirty="0"/>
          </a:p>
        </p:txBody>
      </p:sp>
      <p:sp>
        <p:nvSpPr>
          <p:cNvPr id="8" name="Text 5"/>
          <p:cNvSpPr/>
          <p:nvPr/>
        </p:nvSpPr>
        <p:spPr>
          <a:xfrm>
            <a:off x="749808" y="1993392"/>
            <a:ext cx="2231136" cy="502920"/>
          </a:xfrm>
          <a:prstGeom prst="rect">
            <a:avLst/>
          </a:prstGeom>
          <a:noFill/>
          <a:ln/>
        </p:spPr>
        <p:txBody>
          <a:bodyPr wrap="square" lIns="0" tIns="0" rIns="0" bIns="0" rtlCol="0" anchor="ctr"/>
          <a:lstStyle/>
          <a:p>
            <a:pPr indent="0" marL="0">
              <a:buNone/>
            </a:pPr>
            <a:r>
              <a:rPr lang="en-US" sz="2600" b="1" dirty="0">
                <a:solidFill>
                  <a:srgbClr val="2B2B2B"/>
                </a:solidFill>
                <a:latin typeface="Cambria" pitchFamily="34" charset="0"/>
                <a:ea typeface="Cambria" pitchFamily="34" charset="-122"/>
                <a:cs typeface="Cambria" pitchFamily="34" charset="-120"/>
              </a:rPr>
              <a:t>227.88K</a:t>
            </a:r>
            <a:endParaRPr lang="en-US" sz="2600" dirty="0"/>
          </a:p>
        </p:txBody>
      </p:sp>
      <p:sp>
        <p:nvSpPr>
          <p:cNvPr id="9" name="Shape 6"/>
          <p:cNvSpPr/>
          <p:nvPr/>
        </p:nvSpPr>
        <p:spPr>
          <a:xfrm>
            <a:off x="3364992" y="1371600"/>
            <a:ext cx="2633472" cy="1051560"/>
          </a:xfrm>
          <a:prstGeom prst="roundRect">
            <a:avLst>
              <a:gd name="adj" fmla="val 6957"/>
            </a:avLst>
          </a:prstGeom>
          <a:solidFill>
            <a:srgbClr val="FFFFFF"/>
          </a:solidFill>
          <a:ln w="12700">
            <a:solidFill>
              <a:srgbClr val="E3E5E4"/>
            </a:solidFill>
            <a:prstDash val="solid"/>
          </a:ln>
          <a:effectLst>
            <a:outerShdw sx="100000" sy="100000" kx="0" ky="0" algn="bl" rotWithShape="0" blurRad="76200" dist="25400" dir="5400000">
              <a:srgbClr val="888888">
                <a:alpha val="25000"/>
              </a:srgbClr>
            </a:outerShdw>
          </a:effectLst>
        </p:spPr>
      </p:sp>
      <p:sp>
        <p:nvSpPr>
          <p:cNvPr id="10" name="Shape 7"/>
          <p:cNvSpPr/>
          <p:nvPr/>
        </p:nvSpPr>
        <p:spPr>
          <a:xfrm>
            <a:off x="3566160" y="1554480"/>
            <a:ext cx="420624" cy="420624"/>
          </a:xfrm>
          <a:prstGeom prst="ellipse">
            <a:avLst/>
          </a:prstGeom>
          <a:solidFill>
            <a:srgbClr val="59A33A"/>
          </a:solidFill>
          <a:ln/>
        </p:spPr>
      </p:sp>
      <p:pic>
        <p:nvPicPr>
          <p:cNvPr id="11" name="Image 1" descr="/home/claude/theatre_deck/assets/icons/check_white.png">    </p:cNvPr>
          <p:cNvPicPr>
            <a:picLocks noChangeAspect="1"/>
          </p:cNvPicPr>
          <p:nvPr/>
        </p:nvPicPr>
        <p:blipFill>
          <a:blip r:embed="rId2"/>
          <a:stretch>
            <a:fillRect/>
          </a:stretch>
        </p:blipFill>
        <p:spPr>
          <a:xfrm>
            <a:off x="3657600" y="1645920"/>
            <a:ext cx="237744" cy="237744"/>
          </a:xfrm>
          <a:prstGeom prst="rect">
            <a:avLst/>
          </a:prstGeom>
        </p:spPr>
      </p:pic>
      <p:sp>
        <p:nvSpPr>
          <p:cNvPr id="12" name="Text 8"/>
          <p:cNvSpPr/>
          <p:nvPr/>
        </p:nvSpPr>
        <p:spPr>
          <a:xfrm>
            <a:off x="4096512" y="1517904"/>
            <a:ext cx="1719072" cy="274320"/>
          </a:xfrm>
          <a:prstGeom prst="rect">
            <a:avLst/>
          </a:prstGeom>
          <a:noFill/>
          <a:ln/>
        </p:spPr>
        <p:txBody>
          <a:bodyPr wrap="square" lIns="0" tIns="0" rIns="0" bIns="0" rtlCol="0" anchor="ctr"/>
          <a:lstStyle/>
          <a:p>
            <a:pPr indent="0" marL="0">
              <a:buNone/>
            </a:pPr>
            <a:r>
              <a:rPr lang="en-US" sz="1200" b="1" dirty="0">
                <a:solidFill>
                  <a:srgbClr val="7A7D7F"/>
                </a:solidFill>
                <a:latin typeface="Calibri" pitchFamily="34" charset="0"/>
                <a:ea typeface="Calibri" pitchFamily="34" charset="-122"/>
                <a:cs typeface="Calibri" pitchFamily="34" charset="-120"/>
              </a:rPr>
              <a:t>Gross Revenue</a:t>
            </a:r>
            <a:endParaRPr lang="en-US" sz="1200" dirty="0"/>
          </a:p>
        </p:txBody>
      </p:sp>
      <p:sp>
        <p:nvSpPr>
          <p:cNvPr id="13" name="Text 9"/>
          <p:cNvSpPr/>
          <p:nvPr/>
        </p:nvSpPr>
        <p:spPr>
          <a:xfrm>
            <a:off x="3566160" y="1993392"/>
            <a:ext cx="2231136" cy="502920"/>
          </a:xfrm>
          <a:prstGeom prst="rect">
            <a:avLst/>
          </a:prstGeom>
          <a:noFill/>
          <a:ln/>
        </p:spPr>
        <p:txBody>
          <a:bodyPr wrap="square" lIns="0" tIns="0" rIns="0" bIns="0" rtlCol="0" anchor="ctr"/>
          <a:lstStyle/>
          <a:p>
            <a:pPr indent="0" marL="0">
              <a:buNone/>
            </a:pPr>
            <a:r>
              <a:rPr lang="en-US" sz="2600" b="1" dirty="0">
                <a:solidFill>
                  <a:srgbClr val="2B2B2B"/>
                </a:solidFill>
                <a:latin typeface="Cambria" pitchFamily="34" charset="0"/>
                <a:ea typeface="Cambria" pitchFamily="34" charset="-122"/>
                <a:cs typeface="Cambria" pitchFamily="34" charset="-120"/>
              </a:rPr>
              <a:t>213K</a:t>
            </a:r>
            <a:endParaRPr lang="en-US" sz="2600" dirty="0"/>
          </a:p>
        </p:txBody>
      </p:sp>
      <p:sp>
        <p:nvSpPr>
          <p:cNvPr id="14" name="Shape 10"/>
          <p:cNvSpPr/>
          <p:nvPr/>
        </p:nvSpPr>
        <p:spPr>
          <a:xfrm>
            <a:off x="6181344" y="1371600"/>
            <a:ext cx="2633472" cy="1051560"/>
          </a:xfrm>
          <a:prstGeom prst="roundRect">
            <a:avLst>
              <a:gd name="adj" fmla="val 6957"/>
            </a:avLst>
          </a:prstGeom>
          <a:solidFill>
            <a:srgbClr val="FFFFFF"/>
          </a:solidFill>
          <a:ln w="12700">
            <a:solidFill>
              <a:srgbClr val="E3E5E4"/>
            </a:solidFill>
            <a:prstDash val="solid"/>
          </a:ln>
          <a:effectLst>
            <a:outerShdw sx="100000" sy="100000" kx="0" ky="0" algn="bl" rotWithShape="0" blurRad="76200" dist="25400" dir="5400000">
              <a:srgbClr val="888888">
                <a:alpha val="25000"/>
              </a:srgbClr>
            </a:outerShdw>
          </a:effectLst>
        </p:spPr>
      </p:sp>
      <p:sp>
        <p:nvSpPr>
          <p:cNvPr id="15" name="Shape 11"/>
          <p:cNvSpPr/>
          <p:nvPr/>
        </p:nvSpPr>
        <p:spPr>
          <a:xfrm>
            <a:off x="6382512" y="1554480"/>
            <a:ext cx="420624" cy="420624"/>
          </a:xfrm>
          <a:prstGeom prst="ellipse">
            <a:avLst/>
          </a:prstGeom>
          <a:solidFill>
            <a:srgbClr val="59A33A"/>
          </a:solidFill>
          <a:ln/>
        </p:spPr>
      </p:sp>
      <p:pic>
        <p:nvPicPr>
          <p:cNvPr id="16" name="Image 2" descr="/home/claude/theatre_deck/assets/icons/food_white.png">    </p:cNvPr>
          <p:cNvPicPr>
            <a:picLocks noChangeAspect="1"/>
          </p:cNvPicPr>
          <p:nvPr/>
        </p:nvPicPr>
        <p:blipFill>
          <a:blip r:embed="rId3"/>
          <a:stretch>
            <a:fillRect/>
          </a:stretch>
        </p:blipFill>
        <p:spPr>
          <a:xfrm>
            <a:off x="6473952" y="1645920"/>
            <a:ext cx="237744" cy="237744"/>
          </a:xfrm>
          <a:prstGeom prst="rect">
            <a:avLst/>
          </a:prstGeom>
        </p:spPr>
      </p:pic>
      <p:sp>
        <p:nvSpPr>
          <p:cNvPr id="17" name="Text 12"/>
          <p:cNvSpPr/>
          <p:nvPr/>
        </p:nvSpPr>
        <p:spPr>
          <a:xfrm>
            <a:off x="6912864" y="1517904"/>
            <a:ext cx="1719072" cy="274320"/>
          </a:xfrm>
          <a:prstGeom prst="rect">
            <a:avLst/>
          </a:prstGeom>
          <a:noFill/>
          <a:ln/>
        </p:spPr>
        <p:txBody>
          <a:bodyPr wrap="square" lIns="0" tIns="0" rIns="0" bIns="0" rtlCol="0" anchor="ctr"/>
          <a:lstStyle/>
          <a:p>
            <a:pPr indent="0" marL="0">
              <a:buNone/>
            </a:pPr>
            <a:r>
              <a:rPr lang="en-US" sz="1200" b="1" dirty="0">
                <a:solidFill>
                  <a:srgbClr val="7A7D7F"/>
                </a:solidFill>
                <a:latin typeface="Calibri" pitchFamily="34" charset="0"/>
                <a:ea typeface="Calibri" pitchFamily="34" charset="-122"/>
                <a:cs typeface="Calibri" pitchFamily="34" charset="-120"/>
              </a:rPr>
              <a:t>Food Revenue</a:t>
            </a:r>
            <a:endParaRPr lang="en-US" sz="1200" dirty="0"/>
          </a:p>
        </p:txBody>
      </p:sp>
      <p:sp>
        <p:nvSpPr>
          <p:cNvPr id="18" name="Text 13"/>
          <p:cNvSpPr/>
          <p:nvPr/>
        </p:nvSpPr>
        <p:spPr>
          <a:xfrm>
            <a:off x="6382512" y="1993392"/>
            <a:ext cx="2231136" cy="502920"/>
          </a:xfrm>
          <a:prstGeom prst="rect">
            <a:avLst/>
          </a:prstGeom>
          <a:noFill/>
          <a:ln/>
        </p:spPr>
        <p:txBody>
          <a:bodyPr wrap="square" lIns="0" tIns="0" rIns="0" bIns="0" rtlCol="0" anchor="ctr"/>
          <a:lstStyle/>
          <a:p>
            <a:pPr indent="0" marL="0">
              <a:buNone/>
            </a:pPr>
            <a:r>
              <a:rPr lang="en-US" sz="2600" b="1" dirty="0">
                <a:solidFill>
                  <a:srgbClr val="2B2B2B"/>
                </a:solidFill>
                <a:latin typeface="Cambria" pitchFamily="34" charset="0"/>
                <a:ea typeface="Cambria" pitchFamily="34" charset="-122"/>
                <a:cs typeface="Cambria" pitchFamily="34" charset="-120"/>
              </a:rPr>
              <a:t>55K</a:t>
            </a:r>
            <a:endParaRPr lang="en-US" sz="2600" dirty="0"/>
          </a:p>
        </p:txBody>
      </p:sp>
      <p:sp>
        <p:nvSpPr>
          <p:cNvPr id="19" name="Shape 14"/>
          <p:cNvSpPr/>
          <p:nvPr/>
        </p:nvSpPr>
        <p:spPr>
          <a:xfrm>
            <a:off x="8997696" y="1371600"/>
            <a:ext cx="2633472" cy="1051560"/>
          </a:xfrm>
          <a:prstGeom prst="roundRect">
            <a:avLst>
              <a:gd name="adj" fmla="val 6957"/>
            </a:avLst>
          </a:prstGeom>
          <a:solidFill>
            <a:srgbClr val="FFFFFF"/>
          </a:solidFill>
          <a:ln w="12700">
            <a:solidFill>
              <a:srgbClr val="E3E5E4"/>
            </a:solidFill>
            <a:prstDash val="solid"/>
          </a:ln>
          <a:effectLst>
            <a:outerShdw sx="100000" sy="100000" kx="0" ky="0" algn="bl" rotWithShape="0" blurRad="76200" dist="25400" dir="5400000">
              <a:srgbClr val="888888">
                <a:alpha val="25000"/>
              </a:srgbClr>
            </a:outerShdw>
          </a:effectLst>
        </p:spPr>
      </p:sp>
      <p:sp>
        <p:nvSpPr>
          <p:cNvPr id="20" name="Shape 15"/>
          <p:cNvSpPr/>
          <p:nvPr/>
        </p:nvSpPr>
        <p:spPr>
          <a:xfrm>
            <a:off x="9198864" y="1554480"/>
            <a:ext cx="420624" cy="420624"/>
          </a:xfrm>
          <a:prstGeom prst="ellipse">
            <a:avLst/>
          </a:prstGeom>
          <a:solidFill>
            <a:srgbClr val="59A33A"/>
          </a:solidFill>
          <a:ln/>
        </p:spPr>
      </p:sp>
      <p:pic>
        <p:nvPicPr>
          <p:cNvPr id="21" name="Image 3" descr="/home/claude/theatre_deck/assets/icons/clipboard_white.png">    </p:cNvPr>
          <p:cNvPicPr>
            <a:picLocks noChangeAspect="1"/>
          </p:cNvPicPr>
          <p:nvPr/>
        </p:nvPicPr>
        <p:blipFill>
          <a:blip r:embed="rId4"/>
          <a:stretch>
            <a:fillRect/>
          </a:stretch>
        </p:blipFill>
        <p:spPr>
          <a:xfrm>
            <a:off x="9290304" y="1645920"/>
            <a:ext cx="237744" cy="237744"/>
          </a:xfrm>
          <a:prstGeom prst="rect">
            <a:avLst/>
          </a:prstGeom>
        </p:spPr>
      </p:pic>
      <p:sp>
        <p:nvSpPr>
          <p:cNvPr id="22" name="Text 16"/>
          <p:cNvSpPr/>
          <p:nvPr/>
        </p:nvSpPr>
        <p:spPr>
          <a:xfrm>
            <a:off x="9729216" y="1517904"/>
            <a:ext cx="1719072" cy="274320"/>
          </a:xfrm>
          <a:prstGeom prst="rect">
            <a:avLst/>
          </a:prstGeom>
          <a:noFill/>
          <a:ln/>
        </p:spPr>
        <p:txBody>
          <a:bodyPr wrap="square" lIns="0" tIns="0" rIns="0" bIns="0" rtlCol="0" anchor="ctr"/>
          <a:lstStyle/>
          <a:p>
            <a:pPr indent="0" marL="0">
              <a:buNone/>
            </a:pPr>
            <a:r>
              <a:rPr lang="en-US" sz="1200" b="1" dirty="0">
                <a:solidFill>
                  <a:srgbClr val="7A7D7F"/>
                </a:solidFill>
                <a:latin typeface="Calibri" pitchFamily="34" charset="0"/>
                <a:ea typeface="Calibri" pitchFamily="34" charset="-122"/>
                <a:cs typeface="Calibri" pitchFamily="34" charset="-120"/>
              </a:rPr>
              <a:t>Total Tax</a:t>
            </a:r>
            <a:endParaRPr lang="en-US" sz="1200" dirty="0"/>
          </a:p>
        </p:txBody>
      </p:sp>
      <p:sp>
        <p:nvSpPr>
          <p:cNvPr id="23" name="Text 17"/>
          <p:cNvSpPr/>
          <p:nvPr/>
        </p:nvSpPr>
        <p:spPr>
          <a:xfrm>
            <a:off x="9198864" y="1993392"/>
            <a:ext cx="2231136" cy="502920"/>
          </a:xfrm>
          <a:prstGeom prst="rect">
            <a:avLst/>
          </a:prstGeom>
          <a:noFill/>
          <a:ln/>
        </p:spPr>
        <p:txBody>
          <a:bodyPr wrap="square" lIns="0" tIns="0" rIns="0" bIns="0" rtlCol="0" anchor="ctr"/>
          <a:lstStyle/>
          <a:p>
            <a:pPr indent="0" marL="0">
              <a:buNone/>
            </a:pPr>
            <a:r>
              <a:rPr lang="en-US" sz="2600" b="1" dirty="0">
                <a:solidFill>
                  <a:srgbClr val="2B2B2B"/>
                </a:solidFill>
                <a:latin typeface="Cambria" pitchFamily="34" charset="0"/>
                <a:ea typeface="Cambria" pitchFamily="34" charset="-122"/>
                <a:cs typeface="Cambria" pitchFamily="34" charset="-120"/>
              </a:rPr>
              <a:t>38.34K</a:t>
            </a:r>
            <a:endParaRPr lang="en-US" sz="2600" dirty="0"/>
          </a:p>
        </p:txBody>
      </p:sp>
      <p:pic>
        <p:nvPicPr>
          <p:cNvPr id="24" name="Image 4" descr="/home/claude/theatre_deck/assets/dashboard.png">    </p:cNvPr>
          <p:cNvPicPr>
            <a:picLocks noChangeAspect="1"/>
          </p:cNvPicPr>
          <p:nvPr/>
        </p:nvPicPr>
        <p:blipFill>
          <a:blip r:embed="rId5"/>
          <a:stretch>
            <a:fillRect/>
          </a:stretch>
        </p:blipFill>
        <p:spPr>
          <a:xfrm>
            <a:off x="548640" y="2606040"/>
            <a:ext cx="6675120" cy="3785786"/>
          </a:xfrm>
          <a:prstGeom prst="rect">
            <a:avLst/>
          </a:prstGeom>
        </p:spPr>
      </p:pic>
      <p:sp>
        <p:nvSpPr>
          <p:cNvPr id="25" name="Shape 18"/>
          <p:cNvSpPr/>
          <p:nvPr/>
        </p:nvSpPr>
        <p:spPr>
          <a:xfrm>
            <a:off x="548640" y="2606040"/>
            <a:ext cx="6675120" cy="3785786"/>
          </a:xfrm>
          <a:prstGeom prst="rect">
            <a:avLst/>
          </a:prstGeom>
          <a:ln w="12700">
            <a:solidFill>
              <a:srgbClr val="D8DAD9"/>
            </a:solidFill>
            <a:prstDash val="solid"/>
          </a:ln>
        </p:spPr>
      </p:sp>
      <p:sp>
        <p:nvSpPr>
          <p:cNvPr id="26" name="Text 19"/>
          <p:cNvSpPr/>
          <p:nvPr/>
        </p:nvSpPr>
        <p:spPr>
          <a:xfrm>
            <a:off x="7498080" y="2606040"/>
            <a:ext cx="4142232" cy="274320"/>
          </a:xfrm>
          <a:prstGeom prst="rect">
            <a:avLst/>
          </a:prstGeom>
          <a:noFill/>
          <a:ln/>
        </p:spPr>
        <p:txBody>
          <a:bodyPr wrap="square" rtlCol="0" anchor="ctr"/>
          <a:lstStyle/>
          <a:p>
            <a:pPr indent="0" marL="0">
              <a:buNone/>
            </a:pPr>
            <a:r>
              <a:rPr lang="en-US" sz="1100" b="1" spc="100" kern="0" dirty="0">
                <a:solidFill>
                  <a:srgbClr val="3D7A26"/>
                </a:solidFill>
                <a:latin typeface="Calibri" pitchFamily="34" charset="0"/>
                <a:ea typeface="Calibri" pitchFamily="34" charset="-122"/>
                <a:cs typeface="Calibri" pitchFamily="34" charset="-120"/>
              </a:rPr>
              <a:t>WHAT EACH VISUAL SHOWS</a:t>
            </a:r>
            <a:endParaRPr lang="en-US" sz="1100" dirty="0"/>
          </a:p>
        </p:txBody>
      </p:sp>
      <p:sp>
        <p:nvSpPr>
          <p:cNvPr id="27" name="Shape 20"/>
          <p:cNvSpPr/>
          <p:nvPr/>
        </p:nvSpPr>
        <p:spPr>
          <a:xfrm>
            <a:off x="7498080" y="3044952"/>
            <a:ext cx="82296" cy="82296"/>
          </a:xfrm>
          <a:prstGeom prst="ellipse">
            <a:avLst/>
          </a:prstGeom>
          <a:solidFill>
            <a:srgbClr val="59A33A"/>
          </a:solidFill>
          <a:ln/>
        </p:spPr>
      </p:sp>
      <p:sp>
        <p:nvSpPr>
          <p:cNvPr id="28" name="Text 21"/>
          <p:cNvSpPr/>
          <p:nvPr/>
        </p:nvSpPr>
        <p:spPr>
          <a:xfrm>
            <a:off x="7699248" y="2935224"/>
            <a:ext cx="3941064" cy="384048"/>
          </a:xfrm>
          <a:prstGeom prst="rect">
            <a:avLst/>
          </a:prstGeom>
          <a:noFill/>
          <a:ln/>
        </p:spPr>
        <p:txBody>
          <a:bodyPr wrap="square" lIns="0" tIns="0" rIns="0" bIns="0" rtlCol="0" anchor="ctr"/>
          <a:lstStyle/>
          <a:p>
            <a:pPr indent="0" marL="0">
              <a:lnSpc>
                <a:spcPct val="105000"/>
              </a:lnSpc>
              <a:buNone/>
            </a:pPr>
            <a:r>
              <a:rPr lang="en-US" sz="1050" dirty="0">
                <a:solidFill>
                  <a:srgbClr val="2B2B2B"/>
                </a:solidFill>
                <a:latin typeface="Calibri" pitchFamily="34" charset="0"/>
                <a:ea typeface="Calibri" pitchFamily="34" charset="-122"/>
                <a:cs typeface="Calibri" pitchFamily="34" charset="-120"/>
              </a:rPr>
              <a:t>Revenue by Month — seasonal trend across the year</a:t>
            </a:r>
            <a:endParaRPr lang="en-US" sz="1050" dirty="0"/>
          </a:p>
        </p:txBody>
      </p:sp>
      <p:sp>
        <p:nvSpPr>
          <p:cNvPr id="29" name="Shape 22"/>
          <p:cNvSpPr/>
          <p:nvPr/>
        </p:nvSpPr>
        <p:spPr>
          <a:xfrm>
            <a:off x="7498080" y="3438144"/>
            <a:ext cx="82296" cy="82296"/>
          </a:xfrm>
          <a:prstGeom prst="ellipse">
            <a:avLst/>
          </a:prstGeom>
          <a:solidFill>
            <a:srgbClr val="59A33A"/>
          </a:solidFill>
          <a:ln/>
        </p:spPr>
      </p:sp>
      <p:sp>
        <p:nvSpPr>
          <p:cNvPr id="30" name="Text 23"/>
          <p:cNvSpPr/>
          <p:nvPr/>
        </p:nvSpPr>
        <p:spPr>
          <a:xfrm>
            <a:off x="7699248" y="3328416"/>
            <a:ext cx="3941064" cy="384048"/>
          </a:xfrm>
          <a:prstGeom prst="rect">
            <a:avLst/>
          </a:prstGeom>
          <a:noFill/>
          <a:ln/>
        </p:spPr>
        <p:txBody>
          <a:bodyPr wrap="square" lIns="0" tIns="0" rIns="0" bIns="0" rtlCol="0" anchor="ctr"/>
          <a:lstStyle/>
          <a:p>
            <a:pPr indent="0" marL="0">
              <a:lnSpc>
                <a:spcPct val="105000"/>
              </a:lnSpc>
              <a:buNone/>
            </a:pPr>
            <a:r>
              <a:rPr lang="en-US" sz="1050" dirty="0">
                <a:solidFill>
                  <a:srgbClr val="2B2B2B"/>
                </a:solidFill>
                <a:latin typeface="Calibri" pitchFamily="34" charset="0"/>
                <a:ea typeface="Calibri" pitchFamily="34" charset="-122"/>
                <a:cs typeface="Calibri" pitchFamily="34" charset="-120"/>
              </a:rPr>
              <a:t>Top Movie Genres — revenue ranked by genre</a:t>
            </a:r>
            <a:endParaRPr lang="en-US" sz="1050" dirty="0"/>
          </a:p>
        </p:txBody>
      </p:sp>
      <p:sp>
        <p:nvSpPr>
          <p:cNvPr id="31" name="Shape 24"/>
          <p:cNvSpPr/>
          <p:nvPr/>
        </p:nvSpPr>
        <p:spPr>
          <a:xfrm>
            <a:off x="7498080" y="3831336"/>
            <a:ext cx="82296" cy="82296"/>
          </a:xfrm>
          <a:prstGeom prst="ellipse">
            <a:avLst/>
          </a:prstGeom>
          <a:solidFill>
            <a:srgbClr val="59A33A"/>
          </a:solidFill>
          <a:ln/>
        </p:spPr>
      </p:sp>
      <p:sp>
        <p:nvSpPr>
          <p:cNvPr id="32" name="Text 25"/>
          <p:cNvSpPr/>
          <p:nvPr/>
        </p:nvSpPr>
        <p:spPr>
          <a:xfrm>
            <a:off x="7699248" y="3721608"/>
            <a:ext cx="3941064" cy="384048"/>
          </a:xfrm>
          <a:prstGeom prst="rect">
            <a:avLst/>
          </a:prstGeom>
          <a:noFill/>
          <a:ln/>
        </p:spPr>
        <p:txBody>
          <a:bodyPr wrap="square" lIns="0" tIns="0" rIns="0" bIns="0" rtlCol="0" anchor="ctr"/>
          <a:lstStyle/>
          <a:p>
            <a:pPr indent="0" marL="0">
              <a:lnSpc>
                <a:spcPct val="105000"/>
              </a:lnSpc>
              <a:buNone/>
            </a:pPr>
            <a:r>
              <a:rPr lang="en-US" sz="1050" dirty="0">
                <a:solidFill>
                  <a:srgbClr val="2B2B2B"/>
                </a:solidFill>
                <a:latin typeface="Calibri" pitchFamily="34" charset="0"/>
                <a:ea typeface="Calibri" pitchFamily="34" charset="-122"/>
                <a:cs typeface="Calibri" pitchFamily="34" charset="-120"/>
              </a:rPr>
              <a:t>Ticket vs Food Revenue — income mix split</a:t>
            </a:r>
            <a:endParaRPr lang="en-US" sz="1050" dirty="0"/>
          </a:p>
        </p:txBody>
      </p:sp>
      <p:sp>
        <p:nvSpPr>
          <p:cNvPr id="33" name="Shape 26"/>
          <p:cNvSpPr/>
          <p:nvPr/>
        </p:nvSpPr>
        <p:spPr>
          <a:xfrm>
            <a:off x="7498080" y="4224528"/>
            <a:ext cx="82296" cy="82296"/>
          </a:xfrm>
          <a:prstGeom prst="ellipse">
            <a:avLst/>
          </a:prstGeom>
          <a:solidFill>
            <a:srgbClr val="59A33A"/>
          </a:solidFill>
          <a:ln/>
        </p:spPr>
      </p:sp>
      <p:sp>
        <p:nvSpPr>
          <p:cNvPr id="34" name="Text 27"/>
          <p:cNvSpPr/>
          <p:nvPr/>
        </p:nvSpPr>
        <p:spPr>
          <a:xfrm>
            <a:off x="7699248" y="4114800"/>
            <a:ext cx="3941064" cy="384048"/>
          </a:xfrm>
          <a:prstGeom prst="rect">
            <a:avLst/>
          </a:prstGeom>
          <a:noFill/>
          <a:ln/>
        </p:spPr>
        <p:txBody>
          <a:bodyPr wrap="square" lIns="0" tIns="0" rIns="0" bIns="0" rtlCol="0" anchor="ctr"/>
          <a:lstStyle/>
          <a:p>
            <a:pPr indent="0" marL="0">
              <a:lnSpc>
                <a:spcPct val="105000"/>
              </a:lnSpc>
              <a:buNone/>
            </a:pPr>
            <a:r>
              <a:rPr lang="en-US" sz="1050" dirty="0">
                <a:solidFill>
                  <a:srgbClr val="2B2B2B"/>
                </a:solidFill>
                <a:latin typeface="Calibri" pitchFamily="34" charset="0"/>
                <a:ea typeface="Calibri" pitchFamily="34" charset="-122"/>
                <a:cs typeface="Calibri" pitchFamily="34" charset="-120"/>
              </a:rPr>
              <a:t>Revenue by Theatre — location-wise comparison</a:t>
            </a:r>
            <a:endParaRPr lang="en-US" sz="1050" dirty="0"/>
          </a:p>
        </p:txBody>
      </p:sp>
      <p:sp>
        <p:nvSpPr>
          <p:cNvPr id="35" name="Shape 28"/>
          <p:cNvSpPr/>
          <p:nvPr/>
        </p:nvSpPr>
        <p:spPr>
          <a:xfrm>
            <a:off x="7498080" y="4617720"/>
            <a:ext cx="82296" cy="82296"/>
          </a:xfrm>
          <a:prstGeom prst="ellipse">
            <a:avLst/>
          </a:prstGeom>
          <a:solidFill>
            <a:srgbClr val="59A33A"/>
          </a:solidFill>
          <a:ln/>
        </p:spPr>
      </p:sp>
      <p:sp>
        <p:nvSpPr>
          <p:cNvPr id="36" name="Text 29"/>
          <p:cNvSpPr/>
          <p:nvPr/>
        </p:nvSpPr>
        <p:spPr>
          <a:xfrm>
            <a:off x="7699248" y="4507992"/>
            <a:ext cx="3941064" cy="384048"/>
          </a:xfrm>
          <a:prstGeom prst="rect">
            <a:avLst/>
          </a:prstGeom>
          <a:noFill/>
          <a:ln/>
        </p:spPr>
        <p:txBody>
          <a:bodyPr wrap="square" lIns="0" tIns="0" rIns="0" bIns="0" rtlCol="0" anchor="ctr"/>
          <a:lstStyle/>
          <a:p>
            <a:pPr indent="0" marL="0">
              <a:lnSpc>
                <a:spcPct val="105000"/>
              </a:lnSpc>
              <a:buNone/>
            </a:pPr>
            <a:r>
              <a:rPr lang="en-US" sz="1050" dirty="0">
                <a:solidFill>
                  <a:srgbClr val="2B2B2B"/>
                </a:solidFill>
                <a:latin typeface="Calibri" pitchFamily="34" charset="0"/>
                <a:ea typeface="Calibri" pitchFamily="34" charset="-122"/>
                <a:cs typeface="Calibri" pitchFamily="34" charset="-120"/>
              </a:rPr>
              <a:t>Occupancy by Theatre — average seat utilization</a:t>
            </a:r>
            <a:endParaRPr lang="en-US" sz="1050" dirty="0"/>
          </a:p>
        </p:txBody>
      </p:sp>
      <p:sp>
        <p:nvSpPr>
          <p:cNvPr id="37" name="Shape 30"/>
          <p:cNvSpPr/>
          <p:nvPr/>
        </p:nvSpPr>
        <p:spPr>
          <a:xfrm>
            <a:off x="7498080" y="5047488"/>
            <a:ext cx="4142232" cy="1280160"/>
          </a:xfrm>
          <a:prstGeom prst="roundRect">
            <a:avLst>
              <a:gd name="adj" fmla="val 5714"/>
            </a:avLst>
          </a:prstGeom>
          <a:solidFill>
            <a:srgbClr val="3A3D40"/>
          </a:solidFill>
          <a:ln/>
        </p:spPr>
      </p:sp>
      <p:sp>
        <p:nvSpPr>
          <p:cNvPr id="38" name="Text 31"/>
          <p:cNvSpPr/>
          <p:nvPr/>
        </p:nvSpPr>
        <p:spPr>
          <a:xfrm>
            <a:off x="7680960" y="5193792"/>
            <a:ext cx="3776472" cy="274320"/>
          </a:xfrm>
          <a:prstGeom prst="rect">
            <a:avLst/>
          </a:prstGeom>
          <a:noFill/>
          <a:ln/>
        </p:spPr>
        <p:txBody>
          <a:bodyPr wrap="square" rtlCol="0" anchor="ctr"/>
          <a:lstStyle/>
          <a:p>
            <a:pPr indent="0" marL="0">
              <a:buNone/>
            </a:pPr>
            <a:r>
              <a:rPr lang="en-US" sz="1000" b="1" spc="100" kern="0" dirty="0">
                <a:solidFill>
                  <a:srgbClr val="59A33A"/>
                </a:solidFill>
                <a:latin typeface="Calibri" pitchFamily="34" charset="0"/>
                <a:ea typeface="Calibri" pitchFamily="34" charset="-122"/>
                <a:cs typeface="Calibri" pitchFamily="34" charset="-120"/>
              </a:rPr>
              <a:t>FILTERS AVAILABLE</a:t>
            </a:r>
            <a:endParaRPr lang="en-US" sz="1000" dirty="0"/>
          </a:p>
        </p:txBody>
      </p:sp>
      <p:sp>
        <p:nvSpPr>
          <p:cNvPr id="39" name="Text 32"/>
          <p:cNvSpPr/>
          <p:nvPr/>
        </p:nvSpPr>
        <p:spPr>
          <a:xfrm>
            <a:off x="7680960" y="5468112"/>
            <a:ext cx="3776472" cy="365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Payment Mode  •  Booking Date  •  Promotion Name</a:t>
            </a:r>
            <a:endParaRPr lang="en-US" sz="1100" dirty="0"/>
          </a:p>
        </p:txBody>
      </p:sp>
      <p:sp>
        <p:nvSpPr>
          <p:cNvPr id="40" name="Text 33"/>
          <p:cNvSpPr/>
          <p:nvPr/>
        </p:nvSpPr>
        <p:spPr>
          <a:xfrm>
            <a:off x="7680960" y="5797296"/>
            <a:ext cx="3776472" cy="457200"/>
          </a:xfrm>
          <a:prstGeom prst="rect">
            <a:avLst/>
          </a:prstGeom>
          <a:noFill/>
          <a:ln/>
        </p:spPr>
        <p:txBody>
          <a:bodyPr wrap="square" lIns="0" tIns="0" rIns="0" bIns="0" rtlCol="0" anchor="ctr"/>
          <a:lstStyle/>
          <a:p>
            <a:pPr indent="0" marL="0">
              <a:lnSpc>
                <a:spcPct val="110000"/>
              </a:lnSpc>
              <a:buNone/>
            </a:pPr>
            <a:r>
              <a:rPr lang="en-US" sz="950" dirty="0">
                <a:solidFill>
                  <a:srgbClr val="C9CBCA"/>
                </a:solidFill>
                <a:latin typeface="Calibri" pitchFamily="34" charset="0"/>
                <a:ea typeface="Calibri" pitchFamily="34" charset="-122"/>
                <a:cs typeface="Calibri" pitchFamily="34" charset="-120"/>
              </a:rPr>
              <a:t>Lets any stakeholder slice the data instantly, without needing a new report.</a:t>
            </a:r>
            <a:endParaRPr lang="en-US" sz="950" dirty="0"/>
          </a:p>
        </p:txBody>
      </p:sp>
      <p:sp>
        <p:nvSpPr>
          <p:cNvPr id="41" name="Text 34"/>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7A7D7F"/>
                </a:solidFill>
                <a:latin typeface="Calibri" pitchFamily="34" charset="0"/>
                <a:ea typeface="Calibri" pitchFamily="34" charset="-122"/>
                <a:cs typeface="Calibri" pitchFamily="34" charset="-120"/>
              </a:rPr>
              <a:t>CineMax Multiplex Pvt. Ltd.  |  Revenue &amp; Operations Analytics</a:t>
            </a:r>
            <a:endParaRPr lang="en-US" sz="900" dirty="0"/>
          </a:p>
        </p:txBody>
      </p:sp>
      <p:sp>
        <p:nvSpPr>
          <p:cNvPr id="42" name="Text 3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A7D7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A3D40"/>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59A33A"/>
                </a:solidFill>
                <a:latin typeface="Calibri" pitchFamily="34" charset="0"/>
                <a:ea typeface="Calibri" pitchFamily="34" charset="-122"/>
                <a:cs typeface="Calibri" pitchFamily="34" charset="-120"/>
              </a:rPr>
              <a:t>WHAT THE DATA TELLS US</a:t>
            </a:r>
            <a:endParaRPr lang="en-US" sz="1200" dirty="0"/>
          </a:p>
        </p:txBody>
      </p:sp>
      <p:sp>
        <p:nvSpPr>
          <p:cNvPr id="3" name="Text 1"/>
          <p:cNvSpPr/>
          <p:nvPr/>
        </p:nvSpPr>
        <p:spPr>
          <a:xfrm>
            <a:off x="548640" y="658368"/>
            <a:ext cx="10607040" cy="658368"/>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Business Insights</a:t>
            </a:r>
            <a:endParaRPr lang="en-US" sz="3000" dirty="0"/>
          </a:p>
        </p:txBody>
      </p:sp>
      <p:sp>
        <p:nvSpPr>
          <p:cNvPr id="4" name="Shape 2"/>
          <p:cNvSpPr/>
          <p:nvPr/>
        </p:nvSpPr>
        <p:spPr>
          <a:xfrm>
            <a:off x="548640" y="1417320"/>
            <a:ext cx="3291840" cy="1371600"/>
          </a:xfrm>
          <a:prstGeom prst="roundRect">
            <a:avLst>
              <a:gd name="adj" fmla="val 5333"/>
            </a:avLst>
          </a:prstGeom>
          <a:solidFill>
            <a:srgbClr val="2B2E30"/>
          </a:solidFill>
          <a:ln/>
        </p:spPr>
      </p:sp>
      <p:sp>
        <p:nvSpPr>
          <p:cNvPr id="5" name="Text 3"/>
          <p:cNvSpPr/>
          <p:nvPr/>
        </p:nvSpPr>
        <p:spPr>
          <a:xfrm>
            <a:off x="731520" y="1536192"/>
            <a:ext cx="2926080" cy="640080"/>
          </a:xfrm>
          <a:prstGeom prst="rect">
            <a:avLst/>
          </a:prstGeom>
          <a:noFill/>
          <a:ln/>
        </p:spPr>
        <p:txBody>
          <a:bodyPr wrap="square" lIns="0" tIns="0" rIns="0" bIns="0" rtlCol="0" anchor="ctr"/>
          <a:lstStyle/>
          <a:p>
            <a:pPr indent="0" marL="0">
              <a:buNone/>
            </a:pPr>
            <a:r>
              <a:rPr lang="en-US" sz="3200" b="1" dirty="0">
                <a:solidFill>
                  <a:srgbClr val="59A33A"/>
                </a:solidFill>
                <a:latin typeface="Cambria" pitchFamily="34" charset="0"/>
                <a:ea typeface="Cambria" pitchFamily="34" charset="-122"/>
                <a:cs typeface="Cambria" pitchFamily="34" charset="-120"/>
              </a:rPr>
              <a:t>227.88K</a:t>
            </a:r>
            <a:endParaRPr lang="en-US" sz="3200" dirty="0"/>
          </a:p>
        </p:txBody>
      </p:sp>
      <p:sp>
        <p:nvSpPr>
          <p:cNvPr id="6" name="Text 4"/>
          <p:cNvSpPr/>
          <p:nvPr/>
        </p:nvSpPr>
        <p:spPr>
          <a:xfrm>
            <a:off x="731520" y="2148840"/>
            <a:ext cx="2926080" cy="548640"/>
          </a:xfrm>
          <a:prstGeom prst="rect">
            <a:avLst/>
          </a:prstGeom>
          <a:noFill/>
          <a:ln/>
        </p:spPr>
        <p:txBody>
          <a:bodyPr wrap="square" lIns="0" tIns="0" rIns="0" bIns="0" rtlCol="0" anchor="ctr"/>
          <a:lstStyle/>
          <a:p>
            <a:pPr indent="0" marL="0">
              <a:lnSpc>
                <a:spcPct val="110000"/>
              </a:lnSpc>
              <a:buNone/>
            </a:pPr>
            <a:r>
              <a:rPr lang="en-US" sz="1050" dirty="0">
                <a:solidFill>
                  <a:srgbClr val="C9CBCA"/>
                </a:solidFill>
                <a:latin typeface="Calibri" pitchFamily="34" charset="0"/>
                <a:ea typeface="Calibri" pitchFamily="34" charset="-122"/>
                <a:cs typeface="Calibri" pitchFamily="34" charset="-120"/>
              </a:rPr>
              <a:t>Total revenue generated across all theatres</a:t>
            </a:r>
            <a:endParaRPr lang="en-US" sz="1050" dirty="0"/>
          </a:p>
        </p:txBody>
      </p:sp>
      <p:sp>
        <p:nvSpPr>
          <p:cNvPr id="7" name="Shape 5"/>
          <p:cNvSpPr/>
          <p:nvPr/>
        </p:nvSpPr>
        <p:spPr>
          <a:xfrm>
            <a:off x="4023360" y="1417320"/>
            <a:ext cx="3291840" cy="1371600"/>
          </a:xfrm>
          <a:prstGeom prst="roundRect">
            <a:avLst>
              <a:gd name="adj" fmla="val 5333"/>
            </a:avLst>
          </a:prstGeom>
          <a:solidFill>
            <a:srgbClr val="2B2E30"/>
          </a:solidFill>
          <a:ln/>
        </p:spPr>
      </p:sp>
      <p:graphicFrame>
        <p:nvGraphicFramePr>
          <p:cNvPr id="8" name="Chart 0" descr=""/>
          <p:cNvGraphicFramePr/>
          <p:nvPr/>
        </p:nvGraphicFramePr>
        <p:xfrm>
          <a:off x="4160520" y="1481328"/>
          <a:ext cx="1234440" cy="12344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440680" y="1600200"/>
            <a:ext cx="17830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74% / 26%</a:t>
            </a:r>
            <a:endParaRPr lang="en-US" sz="1700" dirty="0"/>
          </a:p>
        </p:txBody>
      </p:sp>
      <p:sp>
        <p:nvSpPr>
          <p:cNvPr id="10" name="Text 7"/>
          <p:cNvSpPr/>
          <p:nvPr/>
        </p:nvSpPr>
        <p:spPr>
          <a:xfrm>
            <a:off x="5440680" y="1965960"/>
            <a:ext cx="1783080" cy="320040"/>
          </a:xfrm>
          <a:prstGeom prst="rect">
            <a:avLst/>
          </a:prstGeom>
          <a:noFill/>
          <a:ln/>
        </p:spPr>
        <p:txBody>
          <a:bodyPr wrap="square" lIns="0" tIns="0" rIns="0" bIns="0" rtlCol="0" anchor="ctr"/>
          <a:lstStyle/>
          <a:p>
            <a:pPr indent="0" marL="0">
              <a:buNone/>
            </a:pPr>
            <a:r>
              <a:rPr lang="en-US" sz="1000" dirty="0">
                <a:solidFill>
                  <a:srgbClr val="C9CBCA"/>
                </a:solidFill>
                <a:latin typeface="Calibri" pitchFamily="34" charset="0"/>
                <a:ea typeface="Calibri" pitchFamily="34" charset="-122"/>
                <a:cs typeface="Calibri" pitchFamily="34" charset="-120"/>
              </a:rPr>
              <a:t>Ticket vs. food revenue split</a:t>
            </a:r>
            <a:endParaRPr lang="en-US" sz="1000" dirty="0"/>
          </a:p>
        </p:txBody>
      </p:sp>
      <p:sp>
        <p:nvSpPr>
          <p:cNvPr id="11" name="Text 8"/>
          <p:cNvSpPr/>
          <p:nvPr/>
        </p:nvSpPr>
        <p:spPr>
          <a:xfrm>
            <a:off x="5440680" y="2286000"/>
            <a:ext cx="1783080" cy="457200"/>
          </a:xfrm>
          <a:prstGeom prst="rect">
            <a:avLst/>
          </a:prstGeom>
          <a:noFill/>
          <a:ln/>
        </p:spPr>
        <p:txBody>
          <a:bodyPr wrap="square" lIns="0" tIns="0" rIns="0" bIns="0" rtlCol="0" anchor="ctr"/>
          <a:lstStyle/>
          <a:p>
            <a:pPr indent="0" marL="0">
              <a:lnSpc>
                <a:spcPct val="105000"/>
              </a:lnSpc>
              <a:buNone/>
            </a:pPr>
            <a:r>
              <a:rPr lang="en-US" sz="900" dirty="0">
                <a:solidFill>
                  <a:srgbClr val="C9CBCA"/>
                </a:solidFill>
                <a:latin typeface="Calibri" pitchFamily="34" charset="0"/>
                <a:ea typeface="Calibri" pitchFamily="34" charset="-122"/>
                <a:cs typeface="Calibri" pitchFamily="34" charset="-120"/>
              </a:rPr>
              <a:t>Ticket sales dominate, food adds meaningful upside</a:t>
            </a:r>
            <a:endParaRPr lang="en-US" sz="900" dirty="0"/>
          </a:p>
        </p:txBody>
      </p:sp>
      <p:sp>
        <p:nvSpPr>
          <p:cNvPr id="12" name="Shape 9"/>
          <p:cNvSpPr/>
          <p:nvPr/>
        </p:nvSpPr>
        <p:spPr>
          <a:xfrm>
            <a:off x="7498080" y="1417320"/>
            <a:ext cx="4160520" cy="1371600"/>
          </a:xfrm>
          <a:prstGeom prst="roundRect">
            <a:avLst>
              <a:gd name="adj" fmla="val 5333"/>
            </a:avLst>
          </a:prstGeom>
          <a:solidFill>
            <a:srgbClr val="2B2E30"/>
          </a:solidFill>
          <a:ln/>
        </p:spPr>
      </p:sp>
      <p:sp>
        <p:nvSpPr>
          <p:cNvPr id="13" name="Shape 10"/>
          <p:cNvSpPr/>
          <p:nvPr/>
        </p:nvSpPr>
        <p:spPr>
          <a:xfrm>
            <a:off x="7726680" y="1627632"/>
            <a:ext cx="502920" cy="502920"/>
          </a:xfrm>
          <a:prstGeom prst="ellipse">
            <a:avLst/>
          </a:prstGeom>
          <a:solidFill>
            <a:srgbClr val="59A33A"/>
          </a:solidFill>
          <a:ln/>
        </p:spPr>
      </p:sp>
      <p:pic>
        <p:nvPicPr>
          <p:cNvPr id="14" name="Image 0" descr="/home/claude/theatre_deck/assets/icons/film_white.png">    </p:cNvPr>
          <p:cNvPicPr>
            <a:picLocks noChangeAspect="1"/>
          </p:cNvPicPr>
          <p:nvPr/>
        </p:nvPicPr>
        <p:blipFill>
          <a:blip r:embed="rId2"/>
          <a:stretch>
            <a:fillRect/>
          </a:stretch>
        </p:blipFill>
        <p:spPr>
          <a:xfrm>
            <a:off x="7845552" y="1746504"/>
            <a:ext cx="265176" cy="265176"/>
          </a:xfrm>
          <a:prstGeom prst="rect">
            <a:avLst/>
          </a:prstGeom>
        </p:spPr>
      </p:pic>
      <p:sp>
        <p:nvSpPr>
          <p:cNvPr id="15" name="Text 11"/>
          <p:cNvSpPr/>
          <p:nvPr/>
        </p:nvSpPr>
        <p:spPr>
          <a:xfrm>
            <a:off x="8366760" y="1572768"/>
            <a:ext cx="310896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Action leads the box office</a:t>
            </a:r>
            <a:endParaRPr lang="en-US" sz="1350" dirty="0"/>
          </a:p>
        </p:txBody>
      </p:sp>
      <p:sp>
        <p:nvSpPr>
          <p:cNvPr id="16" name="Text 12"/>
          <p:cNvSpPr/>
          <p:nvPr/>
        </p:nvSpPr>
        <p:spPr>
          <a:xfrm>
            <a:off x="8366760" y="1920240"/>
            <a:ext cx="3108960" cy="777240"/>
          </a:xfrm>
          <a:prstGeom prst="rect">
            <a:avLst/>
          </a:prstGeom>
          <a:noFill/>
          <a:ln/>
        </p:spPr>
        <p:txBody>
          <a:bodyPr wrap="square" lIns="0" tIns="0" rIns="0" bIns="0" rtlCol="0" anchor="ctr"/>
          <a:lstStyle/>
          <a:p>
            <a:pPr indent="0" marL="0">
              <a:lnSpc>
                <a:spcPct val="110000"/>
              </a:lnSpc>
              <a:buNone/>
            </a:pPr>
            <a:r>
              <a:rPr lang="en-US" sz="1050" dirty="0">
                <a:solidFill>
                  <a:srgbClr val="C9CBCA"/>
                </a:solidFill>
                <a:latin typeface="Calibri" pitchFamily="34" charset="0"/>
                <a:ea typeface="Calibri" pitchFamily="34" charset="-122"/>
                <a:cs typeface="Calibri" pitchFamily="34" charset="-120"/>
              </a:rPr>
              <a:t>Action movies generate the highest revenue of any genre.</a:t>
            </a:r>
            <a:endParaRPr lang="en-US" sz="1050" dirty="0"/>
          </a:p>
        </p:txBody>
      </p:sp>
      <p:sp>
        <p:nvSpPr>
          <p:cNvPr id="17" name="Shape 13"/>
          <p:cNvSpPr/>
          <p:nvPr/>
        </p:nvSpPr>
        <p:spPr>
          <a:xfrm>
            <a:off x="548640" y="3108960"/>
            <a:ext cx="5257800" cy="1188720"/>
          </a:xfrm>
          <a:prstGeom prst="roundRect">
            <a:avLst>
              <a:gd name="adj" fmla="val 6154"/>
            </a:avLst>
          </a:prstGeom>
          <a:solidFill>
            <a:srgbClr val="2B2E30"/>
          </a:solidFill>
          <a:ln/>
        </p:spPr>
      </p:sp>
      <p:sp>
        <p:nvSpPr>
          <p:cNvPr id="18" name="Shape 14"/>
          <p:cNvSpPr/>
          <p:nvPr/>
        </p:nvSpPr>
        <p:spPr>
          <a:xfrm>
            <a:off x="777240" y="3364992"/>
            <a:ext cx="457200" cy="457200"/>
          </a:xfrm>
          <a:prstGeom prst="ellipse">
            <a:avLst/>
          </a:prstGeom>
          <a:solidFill>
            <a:srgbClr val="59A33A"/>
          </a:solidFill>
          <a:ln/>
        </p:spPr>
      </p:sp>
      <p:pic>
        <p:nvPicPr>
          <p:cNvPr id="19" name="Image 1" descr="/home/claude/theatre_deck/assets/icons/clock_white.png">    </p:cNvPr>
          <p:cNvPicPr>
            <a:picLocks noChangeAspect="1"/>
          </p:cNvPicPr>
          <p:nvPr/>
        </p:nvPicPr>
        <p:blipFill>
          <a:blip r:embed="rId3"/>
          <a:stretch>
            <a:fillRect/>
          </a:stretch>
        </p:blipFill>
        <p:spPr>
          <a:xfrm>
            <a:off x="886968" y="3474720"/>
            <a:ext cx="237744" cy="237744"/>
          </a:xfrm>
          <a:prstGeom prst="rect">
            <a:avLst/>
          </a:prstGeom>
        </p:spPr>
      </p:pic>
      <p:sp>
        <p:nvSpPr>
          <p:cNvPr id="20" name="Text 15"/>
          <p:cNvSpPr/>
          <p:nvPr/>
        </p:nvSpPr>
        <p:spPr>
          <a:xfrm>
            <a:off x="1399032" y="3328416"/>
            <a:ext cx="417880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Revenue peaks during May–July and December</a:t>
            </a:r>
            <a:endParaRPr lang="en-US" sz="1250" dirty="0"/>
          </a:p>
        </p:txBody>
      </p:sp>
      <p:sp>
        <p:nvSpPr>
          <p:cNvPr id="21" name="Text 16"/>
          <p:cNvSpPr/>
          <p:nvPr/>
        </p:nvSpPr>
        <p:spPr>
          <a:xfrm>
            <a:off x="1399032" y="3602736"/>
            <a:ext cx="4178808" cy="566928"/>
          </a:xfrm>
          <a:prstGeom prst="rect">
            <a:avLst/>
          </a:prstGeom>
          <a:noFill/>
          <a:ln/>
        </p:spPr>
        <p:txBody>
          <a:bodyPr wrap="square" lIns="0" tIns="0" rIns="0" bIns="0" rtlCol="0" anchor="ctr"/>
          <a:lstStyle/>
          <a:p>
            <a:pPr indent="0" marL="0">
              <a:lnSpc>
                <a:spcPct val="105000"/>
              </a:lnSpc>
              <a:buNone/>
            </a:pPr>
            <a:r>
              <a:rPr lang="en-US" sz="1000" dirty="0">
                <a:solidFill>
                  <a:srgbClr val="C9CBCA"/>
                </a:solidFill>
                <a:latin typeface="Calibri" pitchFamily="34" charset="0"/>
                <a:ea typeface="Calibri" pitchFamily="34" charset="-122"/>
                <a:cs typeface="Calibri" pitchFamily="34" charset="-120"/>
              </a:rPr>
              <a:t>Clear seasonal demand pattern to plan around.</a:t>
            </a:r>
            <a:endParaRPr lang="en-US" sz="1000" dirty="0"/>
          </a:p>
        </p:txBody>
      </p:sp>
      <p:sp>
        <p:nvSpPr>
          <p:cNvPr id="22" name="Shape 17"/>
          <p:cNvSpPr/>
          <p:nvPr/>
        </p:nvSpPr>
        <p:spPr>
          <a:xfrm>
            <a:off x="6126480" y="3108960"/>
            <a:ext cx="5257800" cy="1188720"/>
          </a:xfrm>
          <a:prstGeom prst="roundRect">
            <a:avLst>
              <a:gd name="adj" fmla="val 6154"/>
            </a:avLst>
          </a:prstGeom>
          <a:solidFill>
            <a:srgbClr val="2B2E30"/>
          </a:solidFill>
          <a:ln/>
        </p:spPr>
      </p:sp>
      <p:sp>
        <p:nvSpPr>
          <p:cNvPr id="23" name="Shape 18"/>
          <p:cNvSpPr/>
          <p:nvPr/>
        </p:nvSpPr>
        <p:spPr>
          <a:xfrm>
            <a:off x="6355080" y="3364992"/>
            <a:ext cx="457200" cy="457200"/>
          </a:xfrm>
          <a:prstGeom prst="ellipse">
            <a:avLst/>
          </a:prstGeom>
          <a:solidFill>
            <a:srgbClr val="59A33A"/>
          </a:solidFill>
          <a:ln/>
        </p:spPr>
      </p:sp>
      <p:pic>
        <p:nvPicPr>
          <p:cNvPr id="24" name="Image 2" descr="/home/claude/theatre_deck/assets/icons/bar_white.png">    </p:cNvPr>
          <p:cNvPicPr>
            <a:picLocks noChangeAspect="1"/>
          </p:cNvPicPr>
          <p:nvPr/>
        </p:nvPicPr>
        <p:blipFill>
          <a:blip r:embed="rId4"/>
          <a:stretch>
            <a:fillRect/>
          </a:stretch>
        </p:blipFill>
        <p:spPr>
          <a:xfrm>
            <a:off x="6464808" y="3474720"/>
            <a:ext cx="237744" cy="237744"/>
          </a:xfrm>
          <a:prstGeom prst="rect">
            <a:avLst/>
          </a:prstGeom>
        </p:spPr>
      </p:pic>
      <p:sp>
        <p:nvSpPr>
          <p:cNvPr id="25" name="Text 19"/>
          <p:cNvSpPr/>
          <p:nvPr/>
        </p:nvSpPr>
        <p:spPr>
          <a:xfrm>
            <a:off x="6976872" y="3328416"/>
            <a:ext cx="417880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Some theatres significantly outperform others</a:t>
            </a:r>
            <a:endParaRPr lang="en-US" sz="1250" dirty="0"/>
          </a:p>
        </p:txBody>
      </p:sp>
      <p:sp>
        <p:nvSpPr>
          <p:cNvPr id="26" name="Text 20"/>
          <p:cNvSpPr/>
          <p:nvPr/>
        </p:nvSpPr>
        <p:spPr>
          <a:xfrm>
            <a:off x="6976872" y="3602736"/>
            <a:ext cx="4178808" cy="566928"/>
          </a:xfrm>
          <a:prstGeom prst="rect">
            <a:avLst/>
          </a:prstGeom>
          <a:noFill/>
          <a:ln/>
        </p:spPr>
        <p:txBody>
          <a:bodyPr wrap="square" lIns="0" tIns="0" rIns="0" bIns="0" rtlCol="0" anchor="ctr"/>
          <a:lstStyle/>
          <a:p>
            <a:pPr indent="0" marL="0">
              <a:lnSpc>
                <a:spcPct val="105000"/>
              </a:lnSpc>
              <a:buNone/>
            </a:pPr>
            <a:r>
              <a:rPr lang="en-US" sz="1000" dirty="0">
                <a:solidFill>
                  <a:srgbClr val="C9CBCA"/>
                </a:solidFill>
                <a:latin typeface="Calibri" pitchFamily="34" charset="0"/>
                <a:ea typeface="Calibri" pitchFamily="34" charset="-122"/>
                <a:cs typeface="Calibri" pitchFamily="34" charset="-120"/>
              </a:rPr>
              <a:t>A consistent performance gap across locations.</a:t>
            </a:r>
            <a:endParaRPr lang="en-US" sz="1000" dirty="0"/>
          </a:p>
        </p:txBody>
      </p:sp>
      <p:sp>
        <p:nvSpPr>
          <p:cNvPr id="27" name="Shape 21"/>
          <p:cNvSpPr/>
          <p:nvPr/>
        </p:nvSpPr>
        <p:spPr>
          <a:xfrm>
            <a:off x="548640" y="4526280"/>
            <a:ext cx="5257800" cy="1188720"/>
          </a:xfrm>
          <a:prstGeom prst="roundRect">
            <a:avLst>
              <a:gd name="adj" fmla="val 6154"/>
            </a:avLst>
          </a:prstGeom>
          <a:solidFill>
            <a:srgbClr val="2B2E30"/>
          </a:solidFill>
          <a:ln/>
        </p:spPr>
      </p:sp>
      <p:sp>
        <p:nvSpPr>
          <p:cNvPr id="28" name="Shape 22"/>
          <p:cNvSpPr/>
          <p:nvPr/>
        </p:nvSpPr>
        <p:spPr>
          <a:xfrm>
            <a:off x="777240" y="4782312"/>
            <a:ext cx="457200" cy="457200"/>
          </a:xfrm>
          <a:prstGeom prst="ellipse">
            <a:avLst/>
          </a:prstGeom>
          <a:solidFill>
            <a:srgbClr val="59A33A"/>
          </a:solidFill>
          <a:ln/>
        </p:spPr>
      </p:sp>
      <p:pic>
        <p:nvPicPr>
          <p:cNvPr id="29" name="Image 3" descr="/home/claude/theatre_deck/assets/icons/users_white.png">    </p:cNvPr>
          <p:cNvPicPr>
            <a:picLocks noChangeAspect="1"/>
          </p:cNvPicPr>
          <p:nvPr/>
        </p:nvPicPr>
        <p:blipFill>
          <a:blip r:embed="rId5"/>
          <a:stretch>
            <a:fillRect/>
          </a:stretch>
        </p:blipFill>
        <p:spPr>
          <a:xfrm>
            <a:off x="886968" y="4892040"/>
            <a:ext cx="237744" cy="237744"/>
          </a:xfrm>
          <a:prstGeom prst="rect">
            <a:avLst/>
          </a:prstGeom>
        </p:spPr>
      </p:pic>
      <p:sp>
        <p:nvSpPr>
          <p:cNvPr id="30" name="Text 23"/>
          <p:cNvSpPr/>
          <p:nvPr/>
        </p:nvSpPr>
        <p:spPr>
          <a:xfrm>
            <a:off x="1399032" y="4745736"/>
            <a:ext cx="417880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Occupancy varies across theatres</a:t>
            </a:r>
            <a:endParaRPr lang="en-US" sz="1250" dirty="0"/>
          </a:p>
        </p:txBody>
      </p:sp>
      <p:sp>
        <p:nvSpPr>
          <p:cNvPr id="31" name="Text 24"/>
          <p:cNvSpPr/>
          <p:nvPr/>
        </p:nvSpPr>
        <p:spPr>
          <a:xfrm>
            <a:off x="1399032" y="5020056"/>
            <a:ext cx="4178808" cy="566928"/>
          </a:xfrm>
          <a:prstGeom prst="rect">
            <a:avLst/>
          </a:prstGeom>
          <a:noFill/>
          <a:ln/>
        </p:spPr>
        <p:txBody>
          <a:bodyPr wrap="square" lIns="0" tIns="0" rIns="0" bIns="0" rtlCol="0" anchor="ctr"/>
          <a:lstStyle/>
          <a:p>
            <a:pPr indent="0" marL="0">
              <a:lnSpc>
                <a:spcPct val="105000"/>
              </a:lnSpc>
              <a:buNone/>
            </a:pPr>
            <a:r>
              <a:rPr lang="en-US" sz="1000" dirty="0">
                <a:solidFill>
                  <a:srgbClr val="C9CBCA"/>
                </a:solidFill>
                <a:latin typeface="Calibri" pitchFamily="34" charset="0"/>
                <a:ea typeface="Calibri" pitchFamily="34" charset="-122"/>
                <a:cs typeface="Calibri" pitchFamily="34" charset="-120"/>
              </a:rPr>
              <a:t>Room to improve seat utilization in weaker locations.</a:t>
            </a:r>
            <a:endParaRPr lang="en-US" sz="1000" dirty="0"/>
          </a:p>
        </p:txBody>
      </p:sp>
      <p:sp>
        <p:nvSpPr>
          <p:cNvPr id="32" name="Shape 25"/>
          <p:cNvSpPr/>
          <p:nvPr/>
        </p:nvSpPr>
        <p:spPr>
          <a:xfrm>
            <a:off x="6126480" y="4526280"/>
            <a:ext cx="5257800" cy="1188720"/>
          </a:xfrm>
          <a:prstGeom prst="roundRect">
            <a:avLst>
              <a:gd name="adj" fmla="val 6154"/>
            </a:avLst>
          </a:prstGeom>
          <a:solidFill>
            <a:srgbClr val="2B2E30"/>
          </a:solidFill>
          <a:ln/>
        </p:spPr>
      </p:sp>
      <p:sp>
        <p:nvSpPr>
          <p:cNvPr id="33" name="Shape 26"/>
          <p:cNvSpPr/>
          <p:nvPr/>
        </p:nvSpPr>
        <p:spPr>
          <a:xfrm>
            <a:off x="6355080" y="4782312"/>
            <a:ext cx="457200" cy="457200"/>
          </a:xfrm>
          <a:prstGeom prst="ellipse">
            <a:avLst/>
          </a:prstGeom>
          <a:solidFill>
            <a:srgbClr val="59A33A"/>
          </a:solidFill>
          <a:ln/>
        </p:spPr>
      </p:sp>
      <p:pic>
        <p:nvPicPr>
          <p:cNvPr id="34" name="Image 4" descr="/home/claude/theatre_deck/assets/icons/food_white.png">    </p:cNvPr>
          <p:cNvPicPr>
            <a:picLocks noChangeAspect="1"/>
          </p:cNvPicPr>
          <p:nvPr/>
        </p:nvPicPr>
        <p:blipFill>
          <a:blip r:embed="rId6"/>
          <a:stretch>
            <a:fillRect/>
          </a:stretch>
        </p:blipFill>
        <p:spPr>
          <a:xfrm>
            <a:off x="6464808" y="4892040"/>
            <a:ext cx="237744" cy="237744"/>
          </a:xfrm>
          <a:prstGeom prst="rect">
            <a:avLst/>
          </a:prstGeom>
        </p:spPr>
      </p:pic>
      <p:sp>
        <p:nvSpPr>
          <p:cNvPr id="35" name="Text 27"/>
          <p:cNvSpPr/>
          <p:nvPr/>
        </p:nvSpPr>
        <p:spPr>
          <a:xfrm>
            <a:off x="6976872" y="4745736"/>
            <a:ext cx="417880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Food &amp; beverage sales are a strong income stream</a:t>
            </a:r>
            <a:endParaRPr lang="en-US" sz="1250" dirty="0"/>
          </a:p>
        </p:txBody>
      </p:sp>
      <p:sp>
        <p:nvSpPr>
          <p:cNvPr id="36" name="Text 28"/>
          <p:cNvSpPr/>
          <p:nvPr/>
        </p:nvSpPr>
        <p:spPr>
          <a:xfrm>
            <a:off x="6976872" y="5020056"/>
            <a:ext cx="4178808" cy="566928"/>
          </a:xfrm>
          <a:prstGeom prst="rect">
            <a:avLst/>
          </a:prstGeom>
          <a:noFill/>
          <a:ln/>
        </p:spPr>
        <p:txBody>
          <a:bodyPr wrap="square" lIns="0" tIns="0" rIns="0" bIns="0" rtlCol="0" anchor="ctr"/>
          <a:lstStyle/>
          <a:p>
            <a:pPr indent="0" marL="0">
              <a:lnSpc>
                <a:spcPct val="105000"/>
              </a:lnSpc>
              <a:buNone/>
            </a:pPr>
            <a:r>
              <a:rPr lang="en-US" sz="1000" dirty="0">
                <a:solidFill>
                  <a:srgbClr val="C9CBCA"/>
                </a:solidFill>
                <a:latin typeface="Calibri" pitchFamily="34" charset="0"/>
                <a:ea typeface="Calibri" pitchFamily="34" charset="-122"/>
                <a:cs typeface="Calibri" pitchFamily="34" charset="-120"/>
              </a:rPr>
              <a:t>Concessions meaningfully add to overall revenue.</a:t>
            </a:r>
            <a:endParaRPr lang="en-US" sz="1000" dirty="0"/>
          </a:p>
        </p:txBody>
      </p:sp>
      <p:sp>
        <p:nvSpPr>
          <p:cNvPr id="37" name="Text 29"/>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C9CBCA"/>
                </a:solidFill>
                <a:latin typeface="Calibri" pitchFamily="34" charset="0"/>
                <a:ea typeface="Calibri" pitchFamily="34" charset="-122"/>
                <a:cs typeface="Calibri" pitchFamily="34" charset="-120"/>
              </a:rPr>
              <a:t>CineMax Multiplex Pvt. Ltd.  |  Revenue &amp; Operations Analytics</a:t>
            </a:r>
            <a:endParaRPr lang="en-US" sz="900" dirty="0"/>
          </a:p>
        </p:txBody>
      </p:sp>
      <p:sp>
        <p:nvSpPr>
          <p:cNvPr id="38" name="Text 3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C9CBC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4"/>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59A33A"/>
                </a:solidFill>
                <a:latin typeface="Calibri" pitchFamily="34" charset="0"/>
                <a:ea typeface="Calibri" pitchFamily="34" charset="-122"/>
                <a:cs typeface="Calibri" pitchFamily="34" charset="-120"/>
              </a:rPr>
              <a:t>TURNING INSIGHT INTO ACTION</a:t>
            </a:r>
            <a:endParaRPr lang="en-US" sz="1200" dirty="0"/>
          </a:p>
        </p:txBody>
      </p:sp>
      <p:sp>
        <p:nvSpPr>
          <p:cNvPr id="3" name="Text 1"/>
          <p:cNvSpPr/>
          <p:nvPr/>
        </p:nvSpPr>
        <p:spPr>
          <a:xfrm>
            <a:off x="548640" y="658368"/>
            <a:ext cx="10607040" cy="658368"/>
          </a:xfrm>
          <a:prstGeom prst="rect">
            <a:avLst/>
          </a:prstGeom>
          <a:noFill/>
          <a:ln/>
        </p:spPr>
        <p:txBody>
          <a:bodyPr wrap="square" rtlCol="0" anchor="ctr"/>
          <a:lstStyle/>
          <a:p>
            <a:pPr indent="0" marL="0">
              <a:buNone/>
            </a:pPr>
            <a:r>
              <a:rPr lang="en-US" sz="3000" b="1" dirty="0">
                <a:solidFill>
                  <a:srgbClr val="2B2B2B"/>
                </a:solidFill>
                <a:latin typeface="Cambria" pitchFamily="34" charset="0"/>
                <a:ea typeface="Cambria" pitchFamily="34" charset="-122"/>
                <a:cs typeface="Cambria" pitchFamily="34" charset="-120"/>
              </a:rPr>
              <a:t>Business Recommendations</a:t>
            </a:r>
            <a:endParaRPr lang="en-US" sz="3000" dirty="0"/>
          </a:p>
        </p:txBody>
      </p:sp>
      <p:sp>
        <p:nvSpPr>
          <p:cNvPr id="4" name="Shape 2"/>
          <p:cNvSpPr/>
          <p:nvPr/>
        </p:nvSpPr>
        <p:spPr>
          <a:xfrm>
            <a:off x="548640" y="1600200"/>
            <a:ext cx="3429000" cy="2103120"/>
          </a:xfrm>
          <a:prstGeom prst="roundRect">
            <a:avLst>
              <a:gd name="adj" fmla="val 3478"/>
            </a:avLst>
          </a:prstGeom>
          <a:solidFill>
            <a:srgbClr val="FFFFFF"/>
          </a:solidFill>
          <a:ln w="12700">
            <a:solidFill>
              <a:srgbClr val="E3E5E4"/>
            </a:solidFill>
            <a:prstDash val="solid"/>
          </a:ln>
          <a:effectLst>
            <a:outerShdw sx="100000" sy="100000" kx="0" ky="0" algn="bl" rotWithShape="0" blurRad="63500" dist="25400" dir="5400000">
              <a:srgbClr val="888888">
                <a:alpha val="20000"/>
              </a:srgbClr>
            </a:outerShdw>
          </a:effectLst>
        </p:spPr>
      </p:sp>
      <p:sp>
        <p:nvSpPr>
          <p:cNvPr id="5" name="Shape 3"/>
          <p:cNvSpPr/>
          <p:nvPr/>
        </p:nvSpPr>
        <p:spPr>
          <a:xfrm>
            <a:off x="777240" y="1828800"/>
            <a:ext cx="457200" cy="457200"/>
          </a:xfrm>
          <a:prstGeom prst="ellipse">
            <a:avLst/>
          </a:prstGeom>
          <a:solidFill>
            <a:srgbClr val="59A33A"/>
          </a:solidFill>
          <a:ln/>
        </p:spPr>
      </p:sp>
      <p:sp>
        <p:nvSpPr>
          <p:cNvPr id="6" name="Text 4"/>
          <p:cNvSpPr/>
          <p:nvPr/>
        </p:nvSpPr>
        <p:spPr>
          <a:xfrm>
            <a:off x="777240" y="18196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Shape 5"/>
          <p:cNvSpPr/>
          <p:nvPr/>
        </p:nvSpPr>
        <p:spPr>
          <a:xfrm>
            <a:off x="3200400" y="1801368"/>
            <a:ext cx="457200" cy="457200"/>
          </a:xfrm>
          <a:prstGeom prst="ellipse">
            <a:avLst/>
          </a:prstGeom>
          <a:solidFill>
            <a:srgbClr val="EDF3EB"/>
          </a:solidFill>
          <a:ln/>
        </p:spPr>
      </p:sp>
      <p:pic>
        <p:nvPicPr>
          <p:cNvPr id="8" name="Image 0" descr="/home/claude/theatre_deck/assets/icons/film_green.png">    </p:cNvPr>
          <p:cNvPicPr>
            <a:picLocks noChangeAspect="1"/>
          </p:cNvPicPr>
          <p:nvPr/>
        </p:nvPicPr>
        <p:blipFill>
          <a:blip r:embed="rId1"/>
          <a:stretch>
            <a:fillRect/>
          </a:stretch>
        </p:blipFill>
        <p:spPr>
          <a:xfrm>
            <a:off x="3300984" y="1901952"/>
            <a:ext cx="256032" cy="256032"/>
          </a:xfrm>
          <a:prstGeom prst="rect">
            <a:avLst/>
          </a:prstGeom>
        </p:spPr>
      </p:pic>
      <p:sp>
        <p:nvSpPr>
          <p:cNvPr id="9" name="Text 6"/>
          <p:cNvSpPr/>
          <p:nvPr/>
        </p:nvSpPr>
        <p:spPr>
          <a:xfrm>
            <a:off x="777240" y="2468880"/>
            <a:ext cx="2971800" cy="640080"/>
          </a:xfrm>
          <a:prstGeom prst="rect">
            <a:avLst/>
          </a:prstGeom>
          <a:noFill/>
          <a:ln/>
        </p:spPr>
        <p:txBody>
          <a:bodyPr wrap="square" lIns="0" tIns="0" rIns="0" bIns="0" rtlCol="0" anchor="ctr"/>
          <a:lstStyle/>
          <a:p>
            <a:pPr indent="0" marL="0">
              <a:lnSpc>
                <a:spcPct val="105000"/>
              </a:lnSpc>
              <a:buNone/>
            </a:pPr>
            <a:r>
              <a:rPr lang="en-US" sz="1300" b="1" dirty="0">
                <a:solidFill>
                  <a:srgbClr val="2B2B2B"/>
                </a:solidFill>
                <a:latin typeface="Calibri" pitchFamily="34" charset="0"/>
                <a:ea typeface="Calibri" pitchFamily="34" charset="-122"/>
                <a:cs typeface="Calibri" pitchFamily="34" charset="-120"/>
              </a:rPr>
              <a:t>Increase screenings of Action movies</a:t>
            </a:r>
            <a:endParaRPr lang="en-US" sz="1300" dirty="0"/>
          </a:p>
        </p:txBody>
      </p:sp>
      <p:sp>
        <p:nvSpPr>
          <p:cNvPr id="10" name="Text 7"/>
          <p:cNvSpPr/>
          <p:nvPr/>
        </p:nvSpPr>
        <p:spPr>
          <a:xfrm>
            <a:off x="777240" y="3063240"/>
            <a:ext cx="2971800" cy="548640"/>
          </a:xfrm>
          <a:prstGeom prst="rect">
            <a:avLst/>
          </a:prstGeom>
          <a:noFill/>
          <a:ln/>
        </p:spPr>
        <p:txBody>
          <a:bodyPr wrap="square" lIns="0" tIns="0" rIns="0" bIns="0" rtlCol="0" anchor="ctr"/>
          <a:lstStyle/>
          <a:p>
            <a:pPr indent="0" marL="0">
              <a:lnSpc>
                <a:spcPct val="110000"/>
              </a:lnSpc>
              <a:buNone/>
            </a:pPr>
            <a:r>
              <a:rPr lang="en-US" sz="1000" dirty="0">
                <a:solidFill>
                  <a:srgbClr val="7A7D7F"/>
                </a:solidFill>
                <a:latin typeface="Calibri" pitchFamily="34" charset="0"/>
                <a:ea typeface="Calibri" pitchFamily="34" charset="-122"/>
                <a:cs typeface="Calibri" pitchFamily="34" charset="-120"/>
              </a:rPr>
              <a:t>Allocate more prime showtimes to the top-performing genre.</a:t>
            </a:r>
            <a:endParaRPr lang="en-US" sz="1000" dirty="0"/>
          </a:p>
        </p:txBody>
      </p:sp>
      <p:sp>
        <p:nvSpPr>
          <p:cNvPr id="11" name="Shape 8"/>
          <p:cNvSpPr/>
          <p:nvPr/>
        </p:nvSpPr>
        <p:spPr>
          <a:xfrm>
            <a:off x="4251960" y="1600200"/>
            <a:ext cx="3429000" cy="2103120"/>
          </a:xfrm>
          <a:prstGeom prst="roundRect">
            <a:avLst>
              <a:gd name="adj" fmla="val 3478"/>
            </a:avLst>
          </a:prstGeom>
          <a:solidFill>
            <a:srgbClr val="FFFFFF"/>
          </a:solidFill>
          <a:ln w="12700">
            <a:solidFill>
              <a:srgbClr val="E3E5E4"/>
            </a:solidFill>
            <a:prstDash val="solid"/>
          </a:ln>
          <a:effectLst>
            <a:outerShdw sx="100000" sy="100000" kx="0" ky="0" algn="bl" rotWithShape="0" blurRad="63500" dist="25400" dir="5400000">
              <a:srgbClr val="888888">
                <a:alpha val="20000"/>
              </a:srgbClr>
            </a:outerShdw>
          </a:effectLst>
        </p:spPr>
      </p:sp>
      <p:sp>
        <p:nvSpPr>
          <p:cNvPr id="12" name="Shape 9"/>
          <p:cNvSpPr/>
          <p:nvPr/>
        </p:nvSpPr>
        <p:spPr>
          <a:xfrm>
            <a:off x="4480560" y="1828800"/>
            <a:ext cx="457200" cy="457200"/>
          </a:xfrm>
          <a:prstGeom prst="ellipse">
            <a:avLst/>
          </a:prstGeom>
          <a:solidFill>
            <a:srgbClr val="59A33A"/>
          </a:solidFill>
          <a:ln/>
        </p:spPr>
      </p:sp>
      <p:sp>
        <p:nvSpPr>
          <p:cNvPr id="13" name="Text 10"/>
          <p:cNvSpPr/>
          <p:nvPr/>
        </p:nvSpPr>
        <p:spPr>
          <a:xfrm>
            <a:off x="4480560" y="18196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Shape 11"/>
          <p:cNvSpPr/>
          <p:nvPr/>
        </p:nvSpPr>
        <p:spPr>
          <a:xfrm>
            <a:off x="6903720" y="1801368"/>
            <a:ext cx="457200" cy="457200"/>
          </a:xfrm>
          <a:prstGeom prst="ellipse">
            <a:avLst/>
          </a:prstGeom>
          <a:solidFill>
            <a:srgbClr val="EDF3EB"/>
          </a:solidFill>
          <a:ln/>
        </p:spPr>
      </p:sp>
      <p:pic>
        <p:nvPicPr>
          <p:cNvPr id="15" name="Image 1" descr="/home/claude/theatre_deck/assets/icons/tags_green.png">    </p:cNvPr>
          <p:cNvPicPr>
            <a:picLocks noChangeAspect="1"/>
          </p:cNvPicPr>
          <p:nvPr/>
        </p:nvPicPr>
        <p:blipFill>
          <a:blip r:embed="rId2"/>
          <a:stretch>
            <a:fillRect/>
          </a:stretch>
        </p:blipFill>
        <p:spPr>
          <a:xfrm>
            <a:off x="7004304" y="1901952"/>
            <a:ext cx="256032" cy="256032"/>
          </a:xfrm>
          <a:prstGeom prst="rect">
            <a:avLst/>
          </a:prstGeom>
        </p:spPr>
      </p:pic>
      <p:sp>
        <p:nvSpPr>
          <p:cNvPr id="16" name="Text 12"/>
          <p:cNvSpPr/>
          <p:nvPr/>
        </p:nvSpPr>
        <p:spPr>
          <a:xfrm>
            <a:off x="4480560" y="2468880"/>
            <a:ext cx="2971800" cy="640080"/>
          </a:xfrm>
          <a:prstGeom prst="rect">
            <a:avLst/>
          </a:prstGeom>
          <a:noFill/>
          <a:ln/>
        </p:spPr>
        <p:txBody>
          <a:bodyPr wrap="square" lIns="0" tIns="0" rIns="0" bIns="0" rtlCol="0" anchor="ctr"/>
          <a:lstStyle/>
          <a:p>
            <a:pPr indent="0" marL="0">
              <a:lnSpc>
                <a:spcPct val="105000"/>
              </a:lnSpc>
              <a:buNone/>
            </a:pPr>
            <a:r>
              <a:rPr lang="en-US" sz="1300" b="1" dirty="0">
                <a:solidFill>
                  <a:srgbClr val="2B2B2B"/>
                </a:solidFill>
                <a:latin typeface="Calibri" pitchFamily="34" charset="0"/>
                <a:ea typeface="Calibri" pitchFamily="34" charset="-122"/>
                <a:cs typeface="Calibri" pitchFamily="34" charset="-120"/>
              </a:rPr>
              <a:t>Run promotions in low-revenue months</a:t>
            </a:r>
            <a:endParaRPr lang="en-US" sz="1300" dirty="0"/>
          </a:p>
        </p:txBody>
      </p:sp>
      <p:sp>
        <p:nvSpPr>
          <p:cNvPr id="17" name="Text 13"/>
          <p:cNvSpPr/>
          <p:nvPr/>
        </p:nvSpPr>
        <p:spPr>
          <a:xfrm>
            <a:off x="4480560" y="3063240"/>
            <a:ext cx="2971800" cy="548640"/>
          </a:xfrm>
          <a:prstGeom prst="rect">
            <a:avLst/>
          </a:prstGeom>
          <a:noFill/>
          <a:ln/>
        </p:spPr>
        <p:txBody>
          <a:bodyPr wrap="square" lIns="0" tIns="0" rIns="0" bIns="0" rtlCol="0" anchor="ctr"/>
          <a:lstStyle/>
          <a:p>
            <a:pPr indent="0" marL="0">
              <a:lnSpc>
                <a:spcPct val="110000"/>
              </a:lnSpc>
              <a:buNone/>
            </a:pPr>
            <a:r>
              <a:rPr lang="en-US" sz="1000" dirty="0">
                <a:solidFill>
                  <a:srgbClr val="7A7D7F"/>
                </a:solidFill>
                <a:latin typeface="Calibri" pitchFamily="34" charset="0"/>
                <a:ea typeface="Calibri" pitchFamily="34" charset="-122"/>
                <a:cs typeface="Calibri" pitchFamily="34" charset="-120"/>
              </a:rPr>
              <a:t>Target campaigns at the seasonal dips outside May–Jul &amp; Dec.</a:t>
            </a:r>
            <a:endParaRPr lang="en-US" sz="1000" dirty="0"/>
          </a:p>
        </p:txBody>
      </p:sp>
      <p:sp>
        <p:nvSpPr>
          <p:cNvPr id="18" name="Shape 14"/>
          <p:cNvSpPr/>
          <p:nvPr/>
        </p:nvSpPr>
        <p:spPr>
          <a:xfrm>
            <a:off x="7955280" y="1600200"/>
            <a:ext cx="3429000" cy="2103120"/>
          </a:xfrm>
          <a:prstGeom prst="roundRect">
            <a:avLst>
              <a:gd name="adj" fmla="val 3478"/>
            </a:avLst>
          </a:prstGeom>
          <a:solidFill>
            <a:srgbClr val="FFFFFF"/>
          </a:solidFill>
          <a:ln w="12700">
            <a:solidFill>
              <a:srgbClr val="E3E5E4"/>
            </a:solidFill>
            <a:prstDash val="solid"/>
          </a:ln>
          <a:effectLst>
            <a:outerShdw sx="100000" sy="100000" kx="0" ky="0" algn="bl" rotWithShape="0" blurRad="63500" dist="25400" dir="5400000">
              <a:srgbClr val="888888">
                <a:alpha val="20000"/>
              </a:srgbClr>
            </a:outerShdw>
          </a:effectLst>
        </p:spPr>
      </p:sp>
      <p:sp>
        <p:nvSpPr>
          <p:cNvPr id="19" name="Shape 15"/>
          <p:cNvSpPr/>
          <p:nvPr/>
        </p:nvSpPr>
        <p:spPr>
          <a:xfrm>
            <a:off x="8183880" y="1828800"/>
            <a:ext cx="457200" cy="457200"/>
          </a:xfrm>
          <a:prstGeom prst="ellipse">
            <a:avLst/>
          </a:prstGeom>
          <a:solidFill>
            <a:srgbClr val="59A33A"/>
          </a:solidFill>
          <a:ln/>
        </p:spPr>
      </p:sp>
      <p:sp>
        <p:nvSpPr>
          <p:cNvPr id="20" name="Text 16"/>
          <p:cNvSpPr/>
          <p:nvPr/>
        </p:nvSpPr>
        <p:spPr>
          <a:xfrm>
            <a:off x="8183880" y="18196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Shape 17"/>
          <p:cNvSpPr/>
          <p:nvPr/>
        </p:nvSpPr>
        <p:spPr>
          <a:xfrm>
            <a:off x="10607040" y="1801368"/>
            <a:ext cx="457200" cy="457200"/>
          </a:xfrm>
          <a:prstGeom prst="ellipse">
            <a:avLst/>
          </a:prstGeom>
          <a:solidFill>
            <a:srgbClr val="EDF3EB"/>
          </a:solidFill>
          <a:ln/>
        </p:spPr>
      </p:sp>
      <p:pic>
        <p:nvPicPr>
          <p:cNvPr id="22" name="Image 2" descr="/home/claude/theatre_deck/assets/icons/map_green.png">    </p:cNvPr>
          <p:cNvPicPr>
            <a:picLocks noChangeAspect="1"/>
          </p:cNvPicPr>
          <p:nvPr/>
        </p:nvPicPr>
        <p:blipFill>
          <a:blip r:embed="rId3"/>
          <a:stretch>
            <a:fillRect/>
          </a:stretch>
        </p:blipFill>
        <p:spPr>
          <a:xfrm>
            <a:off x="10707624" y="1901952"/>
            <a:ext cx="256032" cy="256032"/>
          </a:xfrm>
          <a:prstGeom prst="rect">
            <a:avLst/>
          </a:prstGeom>
        </p:spPr>
      </p:pic>
      <p:sp>
        <p:nvSpPr>
          <p:cNvPr id="23" name="Text 18"/>
          <p:cNvSpPr/>
          <p:nvPr/>
        </p:nvSpPr>
        <p:spPr>
          <a:xfrm>
            <a:off x="8183880" y="2468880"/>
            <a:ext cx="2971800" cy="640080"/>
          </a:xfrm>
          <a:prstGeom prst="rect">
            <a:avLst/>
          </a:prstGeom>
          <a:noFill/>
          <a:ln/>
        </p:spPr>
        <p:txBody>
          <a:bodyPr wrap="square" lIns="0" tIns="0" rIns="0" bIns="0" rtlCol="0" anchor="ctr"/>
          <a:lstStyle/>
          <a:p>
            <a:pPr indent="0" marL="0">
              <a:lnSpc>
                <a:spcPct val="105000"/>
              </a:lnSpc>
              <a:buNone/>
            </a:pPr>
            <a:r>
              <a:rPr lang="en-US" sz="1300" b="1" dirty="0">
                <a:solidFill>
                  <a:srgbClr val="2B2B2B"/>
                </a:solidFill>
                <a:latin typeface="Calibri" pitchFamily="34" charset="0"/>
                <a:ea typeface="Calibri" pitchFamily="34" charset="-122"/>
                <a:cs typeface="Calibri" pitchFamily="34" charset="-120"/>
              </a:rPr>
              <a:t>Improve marketing for underperforming theatres</a:t>
            </a:r>
            <a:endParaRPr lang="en-US" sz="1300" dirty="0"/>
          </a:p>
        </p:txBody>
      </p:sp>
      <p:sp>
        <p:nvSpPr>
          <p:cNvPr id="24" name="Text 19"/>
          <p:cNvSpPr/>
          <p:nvPr/>
        </p:nvSpPr>
        <p:spPr>
          <a:xfrm>
            <a:off x="8183880" y="3063240"/>
            <a:ext cx="2971800" cy="548640"/>
          </a:xfrm>
          <a:prstGeom prst="rect">
            <a:avLst/>
          </a:prstGeom>
          <a:noFill/>
          <a:ln/>
        </p:spPr>
        <p:txBody>
          <a:bodyPr wrap="square" lIns="0" tIns="0" rIns="0" bIns="0" rtlCol="0" anchor="ctr"/>
          <a:lstStyle/>
          <a:p>
            <a:pPr indent="0" marL="0">
              <a:lnSpc>
                <a:spcPct val="110000"/>
              </a:lnSpc>
              <a:buNone/>
            </a:pPr>
            <a:r>
              <a:rPr lang="en-US" sz="1000" dirty="0">
                <a:solidFill>
                  <a:srgbClr val="7A7D7F"/>
                </a:solidFill>
                <a:latin typeface="Calibri" pitchFamily="34" charset="0"/>
                <a:ea typeface="Calibri" pitchFamily="34" charset="-122"/>
                <a:cs typeface="Calibri" pitchFamily="34" charset="-120"/>
              </a:rPr>
              <a:t>Focus local campaigns where the revenue gap is widest.</a:t>
            </a:r>
            <a:endParaRPr lang="en-US" sz="1000" dirty="0"/>
          </a:p>
        </p:txBody>
      </p:sp>
      <p:sp>
        <p:nvSpPr>
          <p:cNvPr id="25" name="Shape 20"/>
          <p:cNvSpPr/>
          <p:nvPr/>
        </p:nvSpPr>
        <p:spPr>
          <a:xfrm>
            <a:off x="548640" y="3931920"/>
            <a:ext cx="3429000" cy="2103120"/>
          </a:xfrm>
          <a:prstGeom prst="roundRect">
            <a:avLst>
              <a:gd name="adj" fmla="val 3478"/>
            </a:avLst>
          </a:prstGeom>
          <a:solidFill>
            <a:srgbClr val="FFFFFF"/>
          </a:solidFill>
          <a:ln w="12700">
            <a:solidFill>
              <a:srgbClr val="E3E5E4"/>
            </a:solidFill>
            <a:prstDash val="solid"/>
          </a:ln>
          <a:effectLst>
            <a:outerShdw sx="100000" sy="100000" kx="0" ky="0" algn="bl" rotWithShape="0" blurRad="63500" dist="25400" dir="5400000">
              <a:srgbClr val="888888">
                <a:alpha val="20000"/>
              </a:srgbClr>
            </a:outerShdw>
          </a:effectLst>
        </p:spPr>
      </p:sp>
      <p:sp>
        <p:nvSpPr>
          <p:cNvPr id="26" name="Shape 21"/>
          <p:cNvSpPr/>
          <p:nvPr/>
        </p:nvSpPr>
        <p:spPr>
          <a:xfrm>
            <a:off x="777240" y="4160520"/>
            <a:ext cx="457200" cy="457200"/>
          </a:xfrm>
          <a:prstGeom prst="ellipse">
            <a:avLst/>
          </a:prstGeom>
          <a:solidFill>
            <a:srgbClr val="59A33A"/>
          </a:solidFill>
          <a:ln/>
        </p:spPr>
      </p:sp>
      <p:sp>
        <p:nvSpPr>
          <p:cNvPr id="27" name="Text 22"/>
          <p:cNvSpPr/>
          <p:nvPr/>
        </p:nvSpPr>
        <p:spPr>
          <a:xfrm>
            <a:off x="777240" y="415137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8" name="Shape 23"/>
          <p:cNvSpPr/>
          <p:nvPr/>
        </p:nvSpPr>
        <p:spPr>
          <a:xfrm>
            <a:off x="3200400" y="4133088"/>
            <a:ext cx="457200" cy="457200"/>
          </a:xfrm>
          <a:prstGeom prst="ellipse">
            <a:avLst/>
          </a:prstGeom>
          <a:solidFill>
            <a:srgbClr val="EDF3EB"/>
          </a:solidFill>
          <a:ln/>
        </p:spPr>
      </p:sp>
      <p:pic>
        <p:nvPicPr>
          <p:cNvPr id="29" name="Image 3" descr="/home/claude/theatre_deck/assets/icons/food_green.png">    </p:cNvPr>
          <p:cNvPicPr>
            <a:picLocks noChangeAspect="1"/>
          </p:cNvPicPr>
          <p:nvPr/>
        </p:nvPicPr>
        <p:blipFill>
          <a:blip r:embed="rId4"/>
          <a:stretch>
            <a:fillRect/>
          </a:stretch>
        </p:blipFill>
        <p:spPr>
          <a:xfrm>
            <a:off x="3300984" y="4233672"/>
            <a:ext cx="256032" cy="256032"/>
          </a:xfrm>
          <a:prstGeom prst="rect">
            <a:avLst/>
          </a:prstGeom>
        </p:spPr>
      </p:pic>
      <p:sp>
        <p:nvSpPr>
          <p:cNvPr id="30" name="Text 24"/>
          <p:cNvSpPr/>
          <p:nvPr/>
        </p:nvSpPr>
        <p:spPr>
          <a:xfrm>
            <a:off x="777240" y="4800600"/>
            <a:ext cx="2971800" cy="640080"/>
          </a:xfrm>
          <a:prstGeom prst="rect">
            <a:avLst/>
          </a:prstGeom>
          <a:noFill/>
          <a:ln/>
        </p:spPr>
        <p:txBody>
          <a:bodyPr wrap="square" lIns="0" tIns="0" rIns="0" bIns="0" rtlCol="0" anchor="ctr"/>
          <a:lstStyle/>
          <a:p>
            <a:pPr indent="0" marL="0">
              <a:lnSpc>
                <a:spcPct val="105000"/>
              </a:lnSpc>
              <a:buNone/>
            </a:pPr>
            <a:r>
              <a:rPr lang="en-US" sz="1300" b="1" dirty="0">
                <a:solidFill>
                  <a:srgbClr val="2B2B2B"/>
                </a:solidFill>
                <a:latin typeface="Calibri" pitchFamily="34" charset="0"/>
                <a:ea typeface="Calibri" pitchFamily="34" charset="-122"/>
                <a:cs typeface="Calibri" pitchFamily="34" charset="-120"/>
              </a:rPr>
              <a:t>Introduce attractive food combo offers</a:t>
            </a:r>
            <a:endParaRPr lang="en-US" sz="1300" dirty="0"/>
          </a:p>
        </p:txBody>
      </p:sp>
      <p:sp>
        <p:nvSpPr>
          <p:cNvPr id="31" name="Text 25"/>
          <p:cNvSpPr/>
          <p:nvPr/>
        </p:nvSpPr>
        <p:spPr>
          <a:xfrm>
            <a:off x="777240" y="5394960"/>
            <a:ext cx="2971800" cy="548640"/>
          </a:xfrm>
          <a:prstGeom prst="rect">
            <a:avLst/>
          </a:prstGeom>
          <a:noFill/>
          <a:ln/>
        </p:spPr>
        <p:txBody>
          <a:bodyPr wrap="square" lIns="0" tIns="0" rIns="0" bIns="0" rtlCol="0" anchor="ctr"/>
          <a:lstStyle/>
          <a:p>
            <a:pPr indent="0" marL="0">
              <a:lnSpc>
                <a:spcPct val="110000"/>
              </a:lnSpc>
              <a:buNone/>
            </a:pPr>
            <a:r>
              <a:rPr lang="en-US" sz="1000" dirty="0">
                <a:solidFill>
                  <a:srgbClr val="7A7D7F"/>
                </a:solidFill>
                <a:latin typeface="Calibri" pitchFamily="34" charset="0"/>
                <a:ea typeface="Calibri" pitchFamily="34" charset="-122"/>
                <a:cs typeface="Calibri" pitchFamily="34" charset="-120"/>
              </a:rPr>
              <a:t>Grow food revenue further with bundled concessions deals.</a:t>
            </a:r>
            <a:endParaRPr lang="en-US" sz="1000" dirty="0"/>
          </a:p>
        </p:txBody>
      </p:sp>
      <p:sp>
        <p:nvSpPr>
          <p:cNvPr id="32" name="Shape 26"/>
          <p:cNvSpPr/>
          <p:nvPr/>
        </p:nvSpPr>
        <p:spPr>
          <a:xfrm>
            <a:off x="4251960" y="3931920"/>
            <a:ext cx="3429000" cy="2103120"/>
          </a:xfrm>
          <a:prstGeom prst="roundRect">
            <a:avLst>
              <a:gd name="adj" fmla="val 3478"/>
            </a:avLst>
          </a:prstGeom>
          <a:solidFill>
            <a:srgbClr val="FFFFFF"/>
          </a:solidFill>
          <a:ln w="12700">
            <a:solidFill>
              <a:srgbClr val="E3E5E4"/>
            </a:solidFill>
            <a:prstDash val="solid"/>
          </a:ln>
          <a:effectLst>
            <a:outerShdw sx="100000" sy="100000" kx="0" ky="0" algn="bl" rotWithShape="0" blurRad="63500" dist="25400" dir="5400000">
              <a:srgbClr val="888888">
                <a:alpha val="20000"/>
              </a:srgbClr>
            </a:outerShdw>
          </a:effectLst>
        </p:spPr>
      </p:sp>
      <p:sp>
        <p:nvSpPr>
          <p:cNvPr id="33" name="Shape 27"/>
          <p:cNvSpPr/>
          <p:nvPr/>
        </p:nvSpPr>
        <p:spPr>
          <a:xfrm>
            <a:off x="4480560" y="4160520"/>
            <a:ext cx="457200" cy="457200"/>
          </a:xfrm>
          <a:prstGeom prst="ellipse">
            <a:avLst/>
          </a:prstGeom>
          <a:solidFill>
            <a:srgbClr val="59A33A"/>
          </a:solidFill>
          <a:ln/>
        </p:spPr>
      </p:sp>
      <p:sp>
        <p:nvSpPr>
          <p:cNvPr id="34" name="Text 28"/>
          <p:cNvSpPr/>
          <p:nvPr/>
        </p:nvSpPr>
        <p:spPr>
          <a:xfrm>
            <a:off x="4480560" y="415137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5" name="Shape 29"/>
          <p:cNvSpPr/>
          <p:nvPr/>
        </p:nvSpPr>
        <p:spPr>
          <a:xfrm>
            <a:off x="6903720" y="4133088"/>
            <a:ext cx="457200" cy="457200"/>
          </a:xfrm>
          <a:prstGeom prst="ellipse">
            <a:avLst/>
          </a:prstGeom>
          <a:solidFill>
            <a:srgbClr val="EDF3EB"/>
          </a:solidFill>
          <a:ln/>
        </p:spPr>
      </p:sp>
      <p:pic>
        <p:nvPicPr>
          <p:cNvPr id="36" name="Image 4" descr="/home/claude/theatre_deck/assets/icons/clock_green.png">    </p:cNvPr>
          <p:cNvPicPr>
            <a:picLocks noChangeAspect="1"/>
          </p:cNvPicPr>
          <p:nvPr/>
        </p:nvPicPr>
        <p:blipFill>
          <a:blip r:embed="rId5"/>
          <a:stretch>
            <a:fillRect/>
          </a:stretch>
        </p:blipFill>
        <p:spPr>
          <a:xfrm>
            <a:off x="7004304" y="4233672"/>
            <a:ext cx="256032" cy="256032"/>
          </a:xfrm>
          <a:prstGeom prst="rect">
            <a:avLst/>
          </a:prstGeom>
        </p:spPr>
      </p:pic>
      <p:sp>
        <p:nvSpPr>
          <p:cNvPr id="37" name="Text 30"/>
          <p:cNvSpPr/>
          <p:nvPr/>
        </p:nvSpPr>
        <p:spPr>
          <a:xfrm>
            <a:off x="4480560" y="4800600"/>
            <a:ext cx="2971800" cy="640080"/>
          </a:xfrm>
          <a:prstGeom prst="rect">
            <a:avLst/>
          </a:prstGeom>
          <a:noFill/>
          <a:ln/>
        </p:spPr>
        <p:txBody>
          <a:bodyPr wrap="square" lIns="0" tIns="0" rIns="0" bIns="0" rtlCol="0" anchor="ctr"/>
          <a:lstStyle/>
          <a:p>
            <a:pPr indent="0" marL="0">
              <a:lnSpc>
                <a:spcPct val="105000"/>
              </a:lnSpc>
              <a:buNone/>
            </a:pPr>
            <a:r>
              <a:rPr lang="en-US" sz="1300" b="1" dirty="0">
                <a:solidFill>
                  <a:srgbClr val="2B2B2B"/>
                </a:solidFill>
                <a:latin typeface="Calibri" pitchFamily="34" charset="0"/>
                <a:ea typeface="Calibri" pitchFamily="34" charset="-122"/>
                <a:cs typeface="Calibri" pitchFamily="34" charset="-120"/>
              </a:rPr>
              <a:t>Optimize show schedules by occupancy</a:t>
            </a:r>
            <a:endParaRPr lang="en-US" sz="1300" dirty="0"/>
          </a:p>
        </p:txBody>
      </p:sp>
      <p:sp>
        <p:nvSpPr>
          <p:cNvPr id="38" name="Text 31"/>
          <p:cNvSpPr/>
          <p:nvPr/>
        </p:nvSpPr>
        <p:spPr>
          <a:xfrm>
            <a:off x="4480560" y="5394960"/>
            <a:ext cx="2971800" cy="548640"/>
          </a:xfrm>
          <a:prstGeom prst="rect">
            <a:avLst/>
          </a:prstGeom>
          <a:noFill/>
          <a:ln/>
        </p:spPr>
        <p:txBody>
          <a:bodyPr wrap="square" lIns="0" tIns="0" rIns="0" bIns="0" rtlCol="0" anchor="ctr"/>
          <a:lstStyle/>
          <a:p>
            <a:pPr indent="0" marL="0">
              <a:lnSpc>
                <a:spcPct val="110000"/>
              </a:lnSpc>
              <a:buNone/>
            </a:pPr>
            <a:r>
              <a:rPr lang="en-US" sz="1000" dirty="0">
                <a:solidFill>
                  <a:srgbClr val="7A7D7F"/>
                </a:solidFill>
                <a:latin typeface="Calibri" pitchFamily="34" charset="0"/>
                <a:ea typeface="Calibri" pitchFamily="34" charset="-122"/>
                <a:cs typeface="Calibri" pitchFamily="34" charset="-120"/>
              </a:rPr>
              <a:t>Shift showtimes to match when theatres fill up fastest.</a:t>
            </a:r>
            <a:endParaRPr lang="en-US" sz="1000" dirty="0"/>
          </a:p>
        </p:txBody>
      </p:sp>
      <p:sp>
        <p:nvSpPr>
          <p:cNvPr id="39" name="Shape 32"/>
          <p:cNvSpPr/>
          <p:nvPr/>
        </p:nvSpPr>
        <p:spPr>
          <a:xfrm>
            <a:off x="7955280" y="3931920"/>
            <a:ext cx="3429000" cy="2103120"/>
          </a:xfrm>
          <a:prstGeom prst="roundRect">
            <a:avLst>
              <a:gd name="adj" fmla="val 3478"/>
            </a:avLst>
          </a:prstGeom>
          <a:solidFill>
            <a:srgbClr val="FFFFFF"/>
          </a:solidFill>
          <a:ln w="12700">
            <a:solidFill>
              <a:srgbClr val="E3E5E4"/>
            </a:solidFill>
            <a:prstDash val="solid"/>
          </a:ln>
          <a:effectLst>
            <a:outerShdw sx="100000" sy="100000" kx="0" ky="0" algn="bl" rotWithShape="0" blurRad="63500" dist="25400" dir="5400000">
              <a:srgbClr val="888888">
                <a:alpha val="20000"/>
              </a:srgbClr>
            </a:outerShdw>
          </a:effectLst>
        </p:spPr>
      </p:sp>
      <p:sp>
        <p:nvSpPr>
          <p:cNvPr id="40" name="Shape 33"/>
          <p:cNvSpPr/>
          <p:nvPr/>
        </p:nvSpPr>
        <p:spPr>
          <a:xfrm>
            <a:off x="8183880" y="4160520"/>
            <a:ext cx="457200" cy="457200"/>
          </a:xfrm>
          <a:prstGeom prst="ellipse">
            <a:avLst/>
          </a:prstGeom>
          <a:solidFill>
            <a:srgbClr val="59A33A"/>
          </a:solidFill>
          <a:ln/>
        </p:spPr>
      </p:sp>
      <p:sp>
        <p:nvSpPr>
          <p:cNvPr id="41" name="Text 34"/>
          <p:cNvSpPr/>
          <p:nvPr/>
        </p:nvSpPr>
        <p:spPr>
          <a:xfrm>
            <a:off x="8183880" y="415137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42" name="Shape 35"/>
          <p:cNvSpPr/>
          <p:nvPr/>
        </p:nvSpPr>
        <p:spPr>
          <a:xfrm>
            <a:off x="10607040" y="4133088"/>
            <a:ext cx="457200" cy="457200"/>
          </a:xfrm>
          <a:prstGeom prst="ellipse">
            <a:avLst/>
          </a:prstGeom>
          <a:solidFill>
            <a:srgbClr val="EDF3EB"/>
          </a:solidFill>
          <a:ln/>
        </p:spPr>
      </p:sp>
      <p:pic>
        <p:nvPicPr>
          <p:cNvPr id="43" name="Image 5" descr="/home/claude/theatre_deck/assets/icons/thumbsup_green.png">    </p:cNvPr>
          <p:cNvPicPr>
            <a:picLocks noChangeAspect="1"/>
          </p:cNvPicPr>
          <p:nvPr/>
        </p:nvPicPr>
        <p:blipFill>
          <a:blip r:embed="rId6"/>
          <a:stretch>
            <a:fillRect/>
          </a:stretch>
        </p:blipFill>
        <p:spPr>
          <a:xfrm>
            <a:off x="10707624" y="4233672"/>
            <a:ext cx="256032" cy="256032"/>
          </a:xfrm>
          <a:prstGeom prst="rect">
            <a:avLst/>
          </a:prstGeom>
        </p:spPr>
      </p:pic>
      <p:sp>
        <p:nvSpPr>
          <p:cNvPr id="44" name="Text 36"/>
          <p:cNvSpPr/>
          <p:nvPr/>
        </p:nvSpPr>
        <p:spPr>
          <a:xfrm>
            <a:off x="8183880" y="4800600"/>
            <a:ext cx="2971800" cy="640080"/>
          </a:xfrm>
          <a:prstGeom prst="rect">
            <a:avLst/>
          </a:prstGeom>
          <a:noFill/>
          <a:ln/>
        </p:spPr>
        <p:txBody>
          <a:bodyPr wrap="square" lIns="0" tIns="0" rIns="0" bIns="0" rtlCol="0" anchor="ctr"/>
          <a:lstStyle/>
          <a:p>
            <a:pPr indent="0" marL="0">
              <a:lnSpc>
                <a:spcPct val="105000"/>
              </a:lnSpc>
              <a:buNone/>
            </a:pPr>
            <a:r>
              <a:rPr lang="en-US" sz="1300" b="1" dirty="0">
                <a:solidFill>
                  <a:srgbClr val="2B2B2B"/>
                </a:solidFill>
                <a:latin typeface="Calibri" pitchFamily="34" charset="0"/>
                <a:ea typeface="Calibri" pitchFamily="34" charset="-122"/>
                <a:cs typeface="Calibri" pitchFamily="34" charset="-120"/>
              </a:rPr>
              <a:t>Apply best practices from top theatres</a:t>
            </a:r>
            <a:endParaRPr lang="en-US" sz="1300" dirty="0"/>
          </a:p>
        </p:txBody>
      </p:sp>
      <p:sp>
        <p:nvSpPr>
          <p:cNvPr id="45" name="Text 37"/>
          <p:cNvSpPr/>
          <p:nvPr/>
        </p:nvSpPr>
        <p:spPr>
          <a:xfrm>
            <a:off x="8183880" y="5394960"/>
            <a:ext cx="2971800" cy="548640"/>
          </a:xfrm>
          <a:prstGeom prst="rect">
            <a:avLst/>
          </a:prstGeom>
          <a:noFill/>
          <a:ln/>
        </p:spPr>
        <p:txBody>
          <a:bodyPr wrap="square" lIns="0" tIns="0" rIns="0" bIns="0" rtlCol="0" anchor="ctr"/>
          <a:lstStyle/>
          <a:p>
            <a:pPr indent="0" marL="0">
              <a:lnSpc>
                <a:spcPct val="110000"/>
              </a:lnSpc>
              <a:buNone/>
            </a:pPr>
            <a:r>
              <a:rPr lang="en-US" sz="1000" dirty="0">
                <a:solidFill>
                  <a:srgbClr val="7A7D7F"/>
                </a:solidFill>
                <a:latin typeface="Calibri" pitchFamily="34" charset="0"/>
                <a:ea typeface="Calibri" pitchFamily="34" charset="-122"/>
                <a:cs typeface="Calibri" pitchFamily="34" charset="-120"/>
              </a:rPr>
              <a:t>Replicate what high-performing locations do differently.</a:t>
            </a:r>
            <a:endParaRPr lang="en-US" sz="1000" dirty="0"/>
          </a:p>
        </p:txBody>
      </p:sp>
      <p:sp>
        <p:nvSpPr>
          <p:cNvPr id="46" name="Text 38"/>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7A7D7F"/>
                </a:solidFill>
                <a:latin typeface="Calibri" pitchFamily="34" charset="0"/>
                <a:ea typeface="Calibri" pitchFamily="34" charset="-122"/>
                <a:cs typeface="Calibri" pitchFamily="34" charset="-120"/>
              </a:rPr>
              <a:t>CineMax Multiplex Pvt. Ltd.  |  Revenue &amp; Operations Analytics</a:t>
            </a:r>
            <a:endParaRPr lang="en-US" sz="900" dirty="0"/>
          </a:p>
        </p:txBody>
      </p:sp>
      <p:sp>
        <p:nvSpPr>
          <p:cNvPr id="47" name="Text 3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7A7D7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A3D40"/>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200" b="1" spc="200" kern="0" dirty="0">
                <a:solidFill>
                  <a:srgbClr val="59A33A"/>
                </a:solidFill>
                <a:latin typeface="Calibri" pitchFamily="34" charset="0"/>
                <a:ea typeface="Calibri" pitchFamily="34" charset="-122"/>
                <a:cs typeface="Calibri" pitchFamily="34" charset="-120"/>
              </a:rPr>
              <a:t>THE PAYOFF</a:t>
            </a:r>
            <a:endParaRPr lang="en-US" sz="1200" dirty="0"/>
          </a:p>
        </p:txBody>
      </p:sp>
      <p:sp>
        <p:nvSpPr>
          <p:cNvPr id="3" name="Text 1"/>
          <p:cNvSpPr/>
          <p:nvPr/>
        </p:nvSpPr>
        <p:spPr>
          <a:xfrm>
            <a:off x="548640" y="658368"/>
            <a:ext cx="10607040" cy="658368"/>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Business Impact</a:t>
            </a:r>
            <a:endParaRPr lang="en-US" sz="3000" dirty="0"/>
          </a:p>
        </p:txBody>
      </p:sp>
      <p:sp>
        <p:nvSpPr>
          <p:cNvPr id="4" name="Text 2"/>
          <p:cNvSpPr/>
          <p:nvPr/>
        </p:nvSpPr>
        <p:spPr>
          <a:xfrm>
            <a:off x="548640" y="1371600"/>
            <a:ext cx="10515600" cy="365760"/>
          </a:xfrm>
          <a:prstGeom prst="rect">
            <a:avLst/>
          </a:prstGeom>
          <a:noFill/>
          <a:ln/>
        </p:spPr>
        <p:txBody>
          <a:bodyPr wrap="square" rtlCol="0" anchor="ctr"/>
          <a:lstStyle/>
          <a:p>
            <a:pPr indent="0" marL="0">
              <a:buNone/>
            </a:pPr>
            <a:r>
              <a:rPr lang="en-US" sz="1350" dirty="0">
                <a:solidFill>
                  <a:srgbClr val="C9CBCA"/>
                </a:solidFill>
                <a:latin typeface="Calibri" pitchFamily="34" charset="0"/>
                <a:ea typeface="Calibri" pitchFamily="34" charset="-122"/>
                <a:cs typeface="Calibri" pitchFamily="34" charset="-120"/>
              </a:rPr>
              <a:t>Acting on these insights is expected to deliver measurable, compounding benefits.</a:t>
            </a:r>
            <a:endParaRPr lang="en-US" sz="1350" dirty="0"/>
          </a:p>
        </p:txBody>
      </p:sp>
      <p:sp>
        <p:nvSpPr>
          <p:cNvPr id="5" name="Shape 3"/>
          <p:cNvSpPr/>
          <p:nvPr/>
        </p:nvSpPr>
        <p:spPr>
          <a:xfrm>
            <a:off x="548640" y="1965960"/>
            <a:ext cx="3429000" cy="1737360"/>
          </a:xfrm>
          <a:prstGeom prst="roundRect">
            <a:avLst>
              <a:gd name="adj" fmla="val 4211"/>
            </a:avLst>
          </a:prstGeom>
          <a:solidFill>
            <a:srgbClr val="2B2E30"/>
          </a:solidFill>
          <a:ln/>
        </p:spPr>
      </p:sp>
      <p:sp>
        <p:nvSpPr>
          <p:cNvPr id="6" name="Shape 4"/>
          <p:cNvSpPr/>
          <p:nvPr/>
        </p:nvSpPr>
        <p:spPr>
          <a:xfrm>
            <a:off x="1943100" y="2240280"/>
            <a:ext cx="640080" cy="640080"/>
          </a:xfrm>
          <a:prstGeom prst="ellipse">
            <a:avLst/>
          </a:prstGeom>
          <a:solidFill>
            <a:srgbClr val="59A33A"/>
          </a:solidFill>
          <a:ln/>
        </p:spPr>
      </p:sp>
      <p:pic>
        <p:nvPicPr>
          <p:cNvPr id="7" name="Image 0" descr="/home/claude/theatre_deck/assets/icons/money_white.png">    </p:cNvPr>
          <p:cNvPicPr>
            <a:picLocks noChangeAspect="1"/>
          </p:cNvPicPr>
          <p:nvPr/>
        </p:nvPicPr>
        <p:blipFill>
          <a:blip r:embed="rId1"/>
          <a:stretch>
            <a:fillRect/>
          </a:stretch>
        </p:blipFill>
        <p:spPr>
          <a:xfrm>
            <a:off x="2089404" y="2386584"/>
            <a:ext cx="347472" cy="347472"/>
          </a:xfrm>
          <a:prstGeom prst="rect">
            <a:avLst/>
          </a:prstGeom>
        </p:spPr>
      </p:pic>
      <p:sp>
        <p:nvSpPr>
          <p:cNvPr id="8" name="Text 5"/>
          <p:cNvSpPr/>
          <p:nvPr/>
        </p:nvSpPr>
        <p:spPr>
          <a:xfrm>
            <a:off x="731520" y="3017520"/>
            <a:ext cx="3063240" cy="50292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Higher revenue</a:t>
            </a:r>
            <a:endParaRPr lang="en-US" sz="1400" dirty="0"/>
          </a:p>
        </p:txBody>
      </p:sp>
      <p:sp>
        <p:nvSpPr>
          <p:cNvPr id="9" name="Shape 6"/>
          <p:cNvSpPr/>
          <p:nvPr/>
        </p:nvSpPr>
        <p:spPr>
          <a:xfrm>
            <a:off x="4251960" y="1965960"/>
            <a:ext cx="3429000" cy="1737360"/>
          </a:xfrm>
          <a:prstGeom prst="roundRect">
            <a:avLst>
              <a:gd name="adj" fmla="val 4211"/>
            </a:avLst>
          </a:prstGeom>
          <a:solidFill>
            <a:srgbClr val="2B2E30"/>
          </a:solidFill>
          <a:ln/>
        </p:spPr>
      </p:sp>
      <p:sp>
        <p:nvSpPr>
          <p:cNvPr id="10" name="Shape 7"/>
          <p:cNvSpPr/>
          <p:nvPr/>
        </p:nvSpPr>
        <p:spPr>
          <a:xfrm>
            <a:off x="5646420" y="2240280"/>
            <a:ext cx="640080" cy="640080"/>
          </a:xfrm>
          <a:prstGeom prst="ellipse">
            <a:avLst/>
          </a:prstGeom>
          <a:solidFill>
            <a:srgbClr val="59A33A"/>
          </a:solidFill>
          <a:ln/>
        </p:spPr>
      </p:sp>
      <p:pic>
        <p:nvPicPr>
          <p:cNvPr id="11" name="Image 1" descr="/home/claude/theatre_deck/assets/icons/users_white.png">    </p:cNvPr>
          <p:cNvPicPr>
            <a:picLocks noChangeAspect="1"/>
          </p:cNvPicPr>
          <p:nvPr/>
        </p:nvPicPr>
        <p:blipFill>
          <a:blip r:embed="rId2"/>
          <a:stretch>
            <a:fillRect/>
          </a:stretch>
        </p:blipFill>
        <p:spPr>
          <a:xfrm>
            <a:off x="5792724" y="2386584"/>
            <a:ext cx="347472" cy="347472"/>
          </a:xfrm>
          <a:prstGeom prst="rect">
            <a:avLst/>
          </a:prstGeom>
        </p:spPr>
      </p:pic>
      <p:sp>
        <p:nvSpPr>
          <p:cNvPr id="12" name="Text 8"/>
          <p:cNvSpPr/>
          <p:nvPr/>
        </p:nvSpPr>
        <p:spPr>
          <a:xfrm>
            <a:off x="4434840" y="3017520"/>
            <a:ext cx="3063240" cy="50292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Better occupancy</a:t>
            </a:r>
            <a:endParaRPr lang="en-US" sz="1400" dirty="0"/>
          </a:p>
        </p:txBody>
      </p:sp>
      <p:sp>
        <p:nvSpPr>
          <p:cNvPr id="13" name="Shape 9"/>
          <p:cNvSpPr/>
          <p:nvPr/>
        </p:nvSpPr>
        <p:spPr>
          <a:xfrm>
            <a:off x="7955280" y="1965960"/>
            <a:ext cx="3429000" cy="1737360"/>
          </a:xfrm>
          <a:prstGeom prst="roundRect">
            <a:avLst>
              <a:gd name="adj" fmla="val 4211"/>
            </a:avLst>
          </a:prstGeom>
          <a:solidFill>
            <a:srgbClr val="2B2E30"/>
          </a:solidFill>
          <a:ln/>
        </p:spPr>
      </p:sp>
      <p:sp>
        <p:nvSpPr>
          <p:cNvPr id="14" name="Shape 10"/>
          <p:cNvSpPr/>
          <p:nvPr/>
        </p:nvSpPr>
        <p:spPr>
          <a:xfrm>
            <a:off x="9349740" y="2240280"/>
            <a:ext cx="640080" cy="640080"/>
          </a:xfrm>
          <a:prstGeom prst="ellipse">
            <a:avLst/>
          </a:prstGeom>
          <a:solidFill>
            <a:srgbClr val="59A33A"/>
          </a:solidFill>
          <a:ln/>
        </p:spPr>
      </p:sp>
      <p:pic>
        <p:nvPicPr>
          <p:cNvPr id="15" name="Image 2" descr="/home/claude/theatre_deck/assets/icons/food_white.png">    </p:cNvPr>
          <p:cNvPicPr>
            <a:picLocks noChangeAspect="1"/>
          </p:cNvPicPr>
          <p:nvPr/>
        </p:nvPicPr>
        <p:blipFill>
          <a:blip r:embed="rId3"/>
          <a:stretch>
            <a:fillRect/>
          </a:stretch>
        </p:blipFill>
        <p:spPr>
          <a:xfrm>
            <a:off x="9496044" y="2386584"/>
            <a:ext cx="347472" cy="347472"/>
          </a:xfrm>
          <a:prstGeom prst="rect">
            <a:avLst/>
          </a:prstGeom>
        </p:spPr>
      </p:pic>
      <p:sp>
        <p:nvSpPr>
          <p:cNvPr id="16" name="Text 11"/>
          <p:cNvSpPr/>
          <p:nvPr/>
        </p:nvSpPr>
        <p:spPr>
          <a:xfrm>
            <a:off x="8138160" y="3017520"/>
            <a:ext cx="3063240" cy="50292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Increased food sales</a:t>
            </a:r>
            <a:endParaRPr lang="en-US" sz="1400" dirty="0"/>
          </a:p>
        </p:txBody>
      </p:sp>
      <p:sp>
        <p:nvSpPr>
          <p:cNvPr id="17" name="Shape 12"/>
          <p:cNvSpPr/>
          <p:nvPr/>
        </p:nvSpPr>
        <p:spPr>
          <a:xfrm>
            <a:off x="548640" y="3931920"/>
            <a:ext cx="3429000" cy="1737360"/>
          </a:xfrm>
          <a:prstGeom prst="roundRect">
            <a:avLst>
              <a:gd name="adj" fmla="val 4211"/>
            </a:avLst>
          </a:prstGeom>
          <a:solidFill>
            <a:srgbClr val="2B2E30"/>
          </a:solidFill>
          <a:ln/>
        </p:spPr>
      </p:sp>
      <p:sp>
        <p:nvSpPr>
          <p:cNvPr id="18" name="Shape 13"/>
          <p:cNvSpPr/>
          <p:nvPr/>
        </p:nvSpPr>
        <p:spPr>
          <a:xfrm>
            <a:off x="1943100" y="4206240"/>
            <a:ext cx="640080" cy="640080"/>
          </a:xfrm>
          <a:prstGeom prst="ellipse">
            <a:avLst/>
          </a:prstGeom>
          <a:solidFill>
            <a:srgbClr val="59A33A"/>
          </a:solidFill>
          <a:ln/>
        </p:spPr>
      </p:sp>
      <p:pic>
        <p:nvPicPr>
          <p:cNvPr id="19" name="Image 3" descr="/home/claude/theatre_deck/assets/icons/smile_white.png">    </p:cNvPr>
          <p:cNvPicPr>
            <a:picLocks noChangeAspect="1"/>
          </p:cNvPicPr>
          <p:nvPr/>
        </p:nvPicPr>
        <p:blipFill>
          <a:blip r:embed="rId4"/>
          <a:stretch>
            <a:fillRect/>
          </a:stretch>
        </p:blipFill>
        <p:spPr>
          <a:xfrm>
            <a:off x="2089404" y="4352544"/>
            <a:ext cx="347472" cy="347472"/>
          </a:xfrm>
          <a:prstGeom prst="rect">
            <a:avLst/>
          </a:prstGeom>
        </p:spPr>
      </p:pic>
      <p:sp>
        <p:nvSpPr>
          <p:cNvPr id="20" name="Text 14"/>
          <p:cNvSpPr/>
          <p:nvPr/>
        </p:nvSpPr>
        <p:spPr>
          <a:xfrm>
            <a:off x="731520" y="4983480"/>
            <a:ext cx="3063240" cy="50292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Improved customer experience</a:t>
            </a:r>
            <a:endParaRPr lang="en-US" sz="1400" dirty="0"/>
          </a:p>
        </p:txBody>
      </p:sp>
      <p:sp>
        <p:nvSpPr>
          <p:cNvPr id="21" name="Shape 15"/>
          <p:cNvSpPr/>
          <p:nvPr/>
        </p:nvSpPr>
        <p:spPr>
          <a:xfrm>
            <a:off x="4251960" y="3931920"/>
            <a:ext cx="3429000" cy="1737360"/>
          </a:xfrm>
          <a:prstGeom prst="roundRect">
            <a:avLst>
              <a:gd name="adj" fmla="val 4211"/>
            </a:avLst>
          </a:prstGeom>
          <a:solidFill>
            <a:srgbClr val="2B2E30"/>
          </a:solidFill>
          <a:ln/>
        </p:spPr>
      </p:sp>
      <p:sp>
        <p:nvSpPr>
          <p:cNvPr id="22" name="Shape 16"/>
          <p:cNvSpPr/>
          <p:nvPr/>
        </p:nvSpPr>
        <p:spPr>
          <a:xfrm>
            <a:off x="5646420" y="4206240"/>
            <a:ext cx="640080" cy="640080"/>
          </a:xfrm>
          <a:prstGeom prst="ellipse">
            <a:avLst/>
          </a:prstGeom>
          <a:solidFill>
            <a:srgbClr val="59A33A"/>
          </a:solidFill>
          <a:ln/>
        </p:spPr>
      </p:sp>
      <p:pic>
        <p:nvPicPr>
          <p:cNvPr id="23" name="Image 4" descr="/home/claude/theatre_deck/assets/icons/chartline_white.png">    </p:cNvPr>
          <p:cNvPicPr>
            <a:picLocks noChangeAspect="1"/>
          </p:cNvPicPr>
          <p:nvPr/>
        </p:nvPicPr>
        <p:blipFill>
          <a:blip r:embed="rId5"/>
          <a:stretch>
            <a:fillRect/>
          </a:stretch>
        </p:blipFill>
        <p:spPr>
          <a:xfrm>
            <a:off x="5792724" y="4352544"/>
            <a:ext cx="347472" cy="347472"/>
          </a:xfrm>
          <a:prstGeom prst="rect">
            <a:avLst/>
          </a:prstGeom>
        </p:spPr>
      </p:pic>
      <p:sp>
        <p:nvSpPr>
          <p:cNvPr id="24" name="Text 17"/>
          <p:cNvSpPr/>
          <p:nvPr/>
        </p:nvSpPr>
        <p:spPr>
          <a:xfrm>
            <a:off x="4434840" y="4983480"/>
            <a:ext cx="3063240" cy="50292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Faster decision-making</a:t>
            </a:r>
            <a:endParaRPr lang="en-US" sz="1400" dirty="0"/>
          </a:p>
        </p:txBody>
      </p:sp>
      <p:sp>
        <p:nvSpPr>
          <p:cNvPr id="25" name="Shape 18"/>
          <p:cNvSpPr/>
          <p:nvPr/>
        </p:nvSpPr>
        <p:spPr>
          <a:xfrm>
            <a:off x="7955280" y="3931920"/>
            <a:ext cx="3429000" cy="1737360"/>
          </a:xfrm>
          <a:prstGeom prst="roundRect">
            <a:avLst>
              <a:gd name="adj" fmla="val 4211"/>
            </a:avLst>
          </a:prstGeom>
          <a:solidFill>
            <a:srgbClr val="2B2E30"/>
          </a:solidFill>
          <a:ln/>
        </p:spPr>
      </p:sp>
      <p:sp>
        <p:nvSpPr>
          <p:cNvPr id="26" name="Shape 19"/>
          <p:cNvSpPr/>
          <p:nvPr/>
        </p:nvSpPr>
        <p:spPr>
          <a:xfrm>
            <a:off x="9349740" y="4206240"/>
            <a:ext cx="640080" cy="640080"/>
          </a:xfrm>
          <a:prstGeom prst="ellipse">
            <a:avLst/>
          </a:prstGeom>
          <a:solidFill>
            <a:srgbClr val="59A33A"/>
          </a:solidFill>
          <a:ln/>
        </p:spPr>
      </p:sp>
      <p:pic>
        <p:nvPicPr>
          <p:cNvPr id="27" name="Image 5" descr="/home/claude/theatre_deck/assets/icons/cogs_white.png">    </p:cNvPr>
          <p:cNvPicPr>
            <a:picLocks noChangeAspect="1"/>
          </p:cNvPicPr>
          <p:nvPr/>
        </p:nvPicPr>
        <p:blipFill>
          <a:blip r:embed="rId6"/>
          <a:stretch>
            <a:fillRect/>
          </a:stretch>
        </p:blipFill>
        <p:spPr>
          <a:xfrm>
            <a:off x="9496044" y="4352544"/>
            <a:ext cx="347472" cy="347472"/>
          </a:xfrm>
          <a:prstGeom prst="rect">
            <a:avLst/>
          </a:prstGeom>
        </p:spPr>
      </p:pic>
      <p:sp>
        <p:nvSpPr>
          <p:cNvPr id="28" name="Text 20"/>
          <p:cNvSpPr/>
          <p:nvPr/>
        </p:nvSpPr>
        <p:spPr>
          <a:xfrm>
            <a:off x="8138160" y="4983480"/>
            <a:ext cx="3063240" cy="50292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Better operational efficiency</a:t>
            </a:r>
            <a:endParaRPr lang="en-US" sz="1400" dirty="0"/>
          </a:p>
        </p:txBody>
      </p:sp>
      <p:sp>
        <p:nvSpPr>
          <p:cNvPr id="29" name="Text 21"/>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C9CBCA"/>
                </a:solidFill>
                <a:latin typeface="Calibri" pitchFamily="34" charset="0"/>
                <a:ea typeface="Calibri" pitchFamily="34" charset="-122"/>
                <a:cs typeface="Calibri" pitchFamily="34" charset="-120"/>
              </a:rPr>
              <a:t>CineMax Multiplex Pvt. Ltd.  |  Revenue &amp; Operations Analytics</a:t>
            </a:r>
            <a:endParaRPr lang="en-US" sz="900" dirty="0"/>
          </a:p>
        </p:txBody>
      </p:sp>
      <p:sp>
        <p:nvSpPr>
          <p:cNvPr id="30" name="Text 22"/>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C9CBC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A3D40"/>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B2E30"/>
          </a:solidFill>
          <a:ln/>
        </p:spPr>
      </p:sp>
      <p:sp>
        <p:nvSpPr>
          <p:cNvPr id="3" name="Shape 1"/>
          <p:cNvSpPr/>
          <p:nvPr/>
        </p:nvSpPr>
        <p:spPr>
          <a:xfrm>
            <a:off x="-1463040" y="4480560"/>
            <a:ext cx="3840480" cy="3840480"/>
          </a:xfrm>
          <a:prstGeom prst="ellipse">
            <a:avLst/>
          </a:prstGeom>
          <a:solidFill>
            <a:srgbClr val="2B2E30"/>
          </a:solidFill>
          <a:ln/>
        </p:spPr>
      </p:sp>
      <p:sp>
        <p:nvSpPr>
          <p:cNvPr id="4" name="Shape 2"/>
          <p:cNvSpPr/>
          <p:nvPr/>
        </p:nvSpPr>
        <p:spPr>
          <a:xfrm>
            <a:off x="5684368" y="685800"/>
            <a:ext cx="822960" cy="822960"/>
          </a:xfrm>
          <a:prstGeom prst="ellipse">
            <a:avLst/>
          </a:prstGeom>
          <a:solidFill>
            <a:srgbClr val="59A33A"/>
          </a:solidFill>
          <a:ln/>
        </p:spPr>
      </p:sp>
      <p:pic>
        <p:nvPicPr>
          <p:cNvPr id="5" name="Image 0" descr="/home/claude/theatre_deck/assets/icons/bulb_white.png">    </p:cNvPr>
          <p:cNvPicPr>
            <a:picLocks noChangeAspect="1"/>
          </p:cNvPicPr>
          <p:nvPr/>
        </p:nvPicPr>
        <p:blipFill>
          <a:blip r:embed="rId1"/>
          <a:stretch>
            <a:fillRect/>
          </a:stretch>
        </p:blipFill>
        <p:spPr>
          <a:xfrm>
            <a:off x="5867248" y="868680"/>
            <a:ext cx="457200" cy="457200"/>
          </a:xfrm>
          <a:prstGeom prst="rect">
            <a:avLst/>
          </a:prstGeom>
        </p:spPr>
      </p:pic>
      <p:sp>
        <p:nvSpPr>
          <p:cNvPr id="6" name="Text 3"/>
          <p:cNvSpPr/>
          <p:nvPr/>
        </p:nvSpPr>
        <p:spPr>
          <a:xfrm>
            <a:off x="1463040" y="1737360"/>
            <a:ext cx="9265615" cy="1554480"/>
          </a:xfrm>
          <a:prstGeom prst="rect">
            <a:avLst/>
          </a:prstGeom>
          <a:noFill/>
          <a:ln/>
        </p:spPr>
        <p:txBody>
          <a:bodyPr wrap="square" rtlCol="0" anchor="ctr"/>
          <a:lstStyle/>
          <a:p>
            <a:pPr algn="ctr" indent="0" marL="0">
              <a:lnSpc>
                <a:spcPct val="125000"/>
              </a:lnSpc>
              <a:buNone/>
            </a:pPr>
            <a:r>
              <a:rPr lang="en-US" sz="2100" i="1" dirty="0">
                <a:solidFill>
                  <a:srgbClr val="FFFFFF"/>
                </a:solidFill>
                <a:latin typeface="Cambria" pitchFamily="34" charset="0"/>
                <a:ea typeface="Cambria" pitchFamily="34" charset="-122"/>
                <a:cs typeface="Cambria" pitchFamily="34" charset="-120"/>
              </a:rPr>
              <a:t>The Power BI dashboard transforms theatre data into meaningful business insights, enabling CineMax Multiplex to make smarter decisions, improve profitability, and enhance customer satisfaction.</a:t>
            </a:r>
            <a:endParaRPr lang="en-US" sz="2100" dirty="0"/>
          </a:p>
        </p:txBody>
      </p:sp>
      <p:sp>
        <p:nvSpPr>
          <p:cNvPr id="7" name="Shape 4"/>
          <p:cNvSpPr/>
          <p:nvPr/>
        </p:nvSpPr>
        <p:spPr>
          <a:xfrm>
            <a:off x="5272888" y="3520440"/>
            <a:ext cx="1645920" cy="0"/>
          </a:xfrm>
          <a:prstGeom prst="line">
            <a:avLst/>
          </a:prstGeom>
          <a:noFill/>
          <a:ln w="25400">
            <a:solidFill>
              <a:srgbClr val="59A33A"/>
            </a:solidFill>
            <a:prstDash val="solid"/>
          </a:ln>
        </p:spPr>
      </p:sp>
      <p:sp>
        <p:nvSpPr>
          <p:cNvPr id="8" name="Text 5"/>
          <p:cNvSpPr/>
          <p:nvPr/>
        </p:nvSpPr>
        <p:spPr>
          <a:xfrm>
            <a:off x="914400" y="3794760"/>
            <a:ext cx="10362895" cy="82296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9" name="Shape 6"/>
          <p:cNvSpPr/>
          <p:nvPr/>
        </p:nvSpPr>
        <p:spPr>
          <a:xfrm>
            <a:off x="5730088" y="4709160"/>
            <a:ext cx="731520" cy="731520"/>
          </a:xfrm>
          <a:prstGeom prst="ellipse">
            <a:avLst/>
          </a:prstGeom>
          <a:solidFill>
            <a:srgbClr val="2B2E30"/>
          </a:solidFill>
          <a:ln/>
        </p:spPr>
      </p:sp>
      <p:pic>
        <p:nvPicPr>
          <p:cNvPr id="10" name="Image 1" descr="/home/claude/theatre_deck/assets/icons/question_green.png">    </p:cNvPr>
          <p:cNvPicPr>
            <a:picLocks noChangeAspect="1"/>
          </p:cNvPicPr>
          <p:nvPr/>
        </p:nvPicPr>
        <p:blipFill>
          <a:blip r:embed="rId2"/>
          <a:stretch>
            <a:fillRect/>
          </a:stretch>
        </p:blipFill>
        <p:spPr>
          <a:xfrm>
            <a:off x="5876392" y="4855464"/>
            <a:ext cx="438912" cy="438912"/>
          </a:xfrm>
          <a:prstGeom prst="rect">
            <a:avLst/>
          </a:prstGeom>
        </p:spPr>
      </p:pic>
      <p:sp>
        <p:nvSpPr>
          <p:cNvPr id="11" name="Text 7"/>
          <p:cNvSpPr/>
          <p:nvPr/>
        </p:nvSpPr>
        <p:spPr>
          <a:xfrm>
            <a:off x="914400" y="5532120"/>
            <a:ext cx="10362895" cy="411480"/>
          </a:xfrm>
          <a:prstGeom prst="rect">
            <a:avLst/>
          </a:prstGeom>
          <a:noFill/>
          <a:ln/>
        </p:spPr>
        <p:txBody>
          <a:bodyPr wrap="square" rtlCol="0" anchor="ctr"/>
          <a:lstStyle/>
          <a:p>
            <a:pPr algn="ctr" indent="0" marL="0">
              <a:buNone/>
            </a:pPr>
            <a:r>
              <a:rPr lang="en-US" sz="1600" dirty="0">
                <a:solidFill>
                  <a:srgbClr val="C9CBCA"/>
                </a:solidFill>
                <a:latin typeface="Calibri" pitchFamily="34" charset="0"/>
                <a:ea typeface="Calibri" pitchFamily="34" charset="-122"/>
                <a:cs typeface="Calibri" pitchFamily="34" charset="-120"/>
              </a:rPr>
              <a:t>Questions &amp; Answers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2026-07-14T01:57:27Z</dcterms:created>
  <dcterms:modified xsi:type="dcterms:W3CDTF">2026-07-14T01:57:27Z</dcterms:modified>
</cp:coreProperties>
</file>